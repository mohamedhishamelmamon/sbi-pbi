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Date-table/time-intelligence guidance (Power BI): https://learn.microsoft.com/en-us/power-bi/transform-model/desktop-date-tables
- DATESBETWEEN (DAX): https://learn.microsoft.com/en-us/dax/datesbetween-function-dax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Mark as date table (Power BI): https://learn.microsoft.com/en-us/power-bi/transform-model/desktop-date-tables
- Date table modeling guidance: https://learn.microsoft.com/en-us/power-bi/guidance/model-date-tables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Cloud SQL for SQL Server import/export with BAK: https://docs.cloud.google.com/sql/docs/sqlserver/import-export/import-export-bak
- gcloud sql import bak reference: https://docs.cloud.google.com/sdk/gcloud/reference/sql/import/bak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Time-intelligence patterns rely on a proper date table: https://learn.microsoft.com/en-us/power-bi/transform-model/desktop-date-tables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Mark as date table (Power BI): https://learn.microsoft.com/en-us/power-bi/transform-model/desktop-date-tables
- Date table modeling guidance: https://learn.microsoft.com/en-us/power-bi/guidance/model-date-tables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DATESBETWEEN (DAX): https://learn.microsoft.com/en-us/dax/datesbetween-function-dax
- DAX time intelligence functions: https://learn.microsoft.com/en-us/dax/time-intelligence-functions-dax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Bookmarks in Power BI: https://learn.microsoft.com/en-us/power-bi/create-reports/desktop-bookmarks
- Page &amp; bookmark navigators: https://learn.microsoft.com/en-us/power-bi/create-reports/button-navigators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Date table settings (Power BI): https://learn.microsoft.com/en-us/power-bi/transform-model/desktop-date-tables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DAX time-intelligence overview: https://learn.microsoft.com/en-us/dax/time-intelligence-functions-dax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77240" y="1325880"/>
            <a:ext cx="10637215" cy="3794760"/>
          </a:xfrm>
          <a:prstGeom prst="roundRect">
            <a:avLst/>
          </a:prstGeom>
          <a:solidFill>
            <a:srgbClr val="FFFFFF"/>
          </a:solidFill>
          <a:ln w="12700">
            <a:solidFill>
              <a:srgbClr val="E5E7EB"/>
            </a:solidFill>
            <a:prstDash val="solid"/>
          </a:ln>
          <a:effectLst>
            <a:outerShdw sx="100000" sy="100000" kx="0" ky="0" algn="bl" rotWithShape="0" blurRad="38100" dist="25400" dir="2700000">
              <a:srgbClr val="000000">
                <a:alpha val="18000"/>
              </a:srgbClr>
            </a:outerShdw>
          </a:effectLst>
        </p:spPr>
      </p:sp>
      <p:sp>
        <p:nvSpPr>
          <p:cNvPr id="3" name="Text 1"/>
          <p:cNvSpPr/>
          <p:nvPr/>
        </p:nvSpPr>
        <p:spPr>
          <a:xfrm>
            <a:off x="1234440" y="1874520"/>
            <a:ext cx="9722815" cy="822960"/>
          </a:xfrm>
          <a:prstGeom prst="rect">
            <a:avLst/>
          </a:prstGeom>
          <a:noFill/>
          <a:ln/>
        </p:spPr>
        <p:txBody>
          <a:bodyPr wrap="square" rtlCol="0" anchor="ctr"/>
          <a:lstStyle/>
          <a:p>
            <a:pPr indent="0" marL="0">
              <a:buNone/>
            </a:pPr>
            <a:r>
              <a:rPr lang="en-US" sz="4000" b="1" dirty="0">
                <a:solidFill>
                  <a:srgbClr val="0B1B3A"/>
                </a:solidFill>
                <a:latin typeface="Calibri" pitchFamily="34" charset="0"/>
                <a:ea typeface="Calibri" pitchFamily="34" charset="-122"/>
                <a:cs typeface="Calibri" pitchFamily="34" charset="-120"/>
              </a:rPr>
              <a:t>Technical Implementation</a:t>
            </a:r>
            <a:endParaRPr lang="en-US" sz="4000" dirty="0"/>
          </a:p>
        </p:txBody>
      </p:sp>
      <p:sp>
        <p:nvSpPr>
          <p:cNvPr id="4" name="Text 2"/>
          <p:cNvSpPr/>
          <p:nvPr/>
        </p:nvSpPr>
        <p:spPr>
          <a:xfrm>
            <a:off x="1234440" y="2834640"/>
            <a:ext cx="9722815" cy="548640"/>
          </a:xfrm>
          <a:prstGeom prst="rect">
            <a:avLst/>
          </a:prstGeom>
          <a:noFill/>
          <a:ln/>
        </p:spPr>
        <p:txBody>
          <a:bodyPr wrap="square" rtlCol="0" anchor="ctr"/>
          <a:lstStyle/>
          <a:p>
            <a:pPr indent="0" marL="0">
              <a:buNone/>
            </a:pPr>
            <a:r>
              <a:rPr lang="en-US" sz="1600" dirty="0">
                <a:solidFill>
                  <a:srgbClr val="374151"/>
                </a:solidFill>
                <a:latin typeface="Calibri" pitchFamily="34" charset="0"/>
                <a:ea typeface="Calibri" pitchFamily="34" charset="-122"/>
                <a:cs typeface="Calibri" pitchFamily="34" charset="-120"/>
              </a:rPr>
              <a:t>SQL Server (Cloud SQL) + Power BI • Activity KPI Dashboard</a:t>
            </a:r>
            <a:endParaRPr lang="en-US" sz="1600" dirty="0"/>
          </a:p>
        </p:txBody>
      </p:sp>
      <p:sp>
        <p:nvSpPr>
          <p:cNvPr id="5" name="Text 3"/>
          <p:cNvSpPr/>
          <p:nvPr/>
        </p:nvSpPr>
        <p:spPr>
          <a:xfrm>
            <a:off x="1234440" y="4709160"/>
            <a:ext cx="9722815"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As-of: Jan 20, 2026 (project context)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FFFFFF"/>
          </a:solidFill>
          <a:ln w="12700">
            <a:solidFill>
              <a:srgbClr val="E5E7EB"/>
            </a:solidFill>
            <a:prstDash val="solid"/>
          </a:ln>
        </p:spPr>
      </p:sp>
      <p:sp>
        <p:nvSpPr>
          <p:cNvPr id="3" name="Text 1"/>
          <p:cNvSpPr/>
          <p:nvPr/>
        </p:nvSpPr>
        <p:spPr>
          <a:xfrm>
            <a:off x="548640" y="146304"/>
            <a:ext cx="8686800" cy="365760"/>
          </a:xfrm>
          <a:prstGeom prst="rect">
            <a:avLst/>
          </a:prstGeom>
          <a:noFill/>
          <a:ln/>
        </p:spPr>
        <p:txBody>
          <a:bodyPr wrap="square" rtlCol="0" anchor="ctr"/>
          <a:lstStyle/>
          <a:p>
            <a:pPr indent="0" marL="0">
              <a:buNone/>
            </a:pPr>
            <a:r>
              <a:rPr lang="en-US" sz="2000" b="1" dirty="0">
                <a:solidFill>
                  <a:srgbClr val="0B1B3A"/>
                </a:solidFill>
                <a:latin typeface="Calibri" pitchFamily="34" charset="0"/>
                <a:ea typeface="Calibri" pitchFamily="34" charset="-122"/>
                <a:cs typeface="Calibri" pitchFamily="34" charset="-120"/>
              </a:rPr>
              <a:t>System overview</a:t>
            </a:r>
            <a:endParaRPr lang="en-US" sz="2000" dirty="0"/>
          </a:p>
        </p:txBody>
      </p:sp>
      <p:sp>
        <p:nvSpPr>
          <p:cNvPr id="4" name="Text 2"/>
          <p:cNvSpPr/>
          <p:nvPr/>
        </p:nvSpPr>
        <p:spPr>
          <a:xfrm>
            <a:off x="548640" y="420624"/>
            <a:ext cx="9601200" cy="201168"/>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High-level data flow and modeling approach</a:t>
            </a:r>
            <a:endParaRPr lang="en-US" sz="1100" dirty="0"/>
          </a:p>
        </p:txBody>
      </p:sp>
      <p:sp>
        <p:nvSpPr>
          <p:cNvPr id="5" name="Shape 3"/>
          <p:cNvSpPr/>
          <p:nvPr/>
        </p:nvSpPr>
        <p:spPr>
          <a:xfrm>
            <a:off x="777240" y="1143000"/>
            <a:ext cx="3246120" cy="96012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2000"/>
              </a:srgbClr>
            </a:outerShdw>
          </a:effectLst>
        </p:spPr>
      </p:sp>
      <p:sp>
        <p:nvSpPr>
          <p:cNvPr id="6" name="Shape 4"/>
          <p:cNvSpPr/>
          <p:nvPr/>
        </p:nvSpPr>
        <p:spPr>
          <a:xfrm>
            <a:off x="777240" y="1143000"/>
            <a:ext cx="73152" cy="960120"/>
          </a:xfrm>
          <a:prstGeom prst="rect">
            <a:avLst/>
          </a:prstGeom>
          <a:solidFill>
            <a:srgbClr val="1F6FEB"/>
          </a:solidFill>
          <a:ln w="12700">
            <a:solidFill>
              <a:srgbClr val="1F6FEB"/>
            </a:solidFill>
            <a:prstDash val="solid"/>
          </a:ln>
        </p:spPr>
      </p:sp>
      <p:sp>
        <p:nvSpPr>
          <p:cNvPr id="7" name="Text 5"/>
          <p:cNvSpPr/>
          <p:nvPr/>
        </p:nvSpPr>
        <p:spPr>
          <a:xfrm>
            <a:off x="960120" y="1252728"/>
            <a:ext cx="2926080" cy="256032"/>
          </a:xfrm>
          <a:prstGeom prst="rect">
            <a:avLst/>
          </a:prstGeom>
          <a:noFill/>
          <a:ln/>
        </p:spPr>
        <p:txBody>
          <a:bodyPr wrap="square" rtlCol="0" anchor="ctr"/>
          <a:lstStyle/>
          <a:p>
            <a:pPr indent="0" marL="0">
              <a:buNone/>
            </a:pPr>
            <a:r>
              <a:rPr lang="en-US" sz="1500" b="1" dirty="0">
                <a:solidFill>
                  <a:srgbClr val="0B1B3A"/>
                </a:solidFill>
                <a:latin typeface="Calibri" pitchFamily="34" charset="0"/>
                <a:ea typeface="Calibri" pitchFamily="34" charset="-122"/>
                <a:cs typeface="Calibri" pitchFamily="34" charset="-120"/>
              </a:rPr>
              <a:t>1) Restore DB</a:t>
            </a:r>
            <a:endParaRPr lang="en-US" sz="1500" dirty="0"/>
          </a:p>
        </p:txBody>
      </p:sp>
      <p:sp>
        <p:nvSpPr>
          <p:cNvPr id="8" name="Text 6"/>
          <p:cNvSpPr/>
          <p:nvPr/>
        </p:nvSpPr>
        <p:spPr>
          <a:xfrm>
            <a:off x="960120" y="1554480"/>
            <a:ext cx="2926080" cy="54864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Import .bak into SQL Server</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(Cloud SQL for SQL Server)</a:t>
            </a:r>
            <a:endParaRPr lang="en-US" sz="1150" dirty="0"/>
          </a:p>
        </p:txBody>
      </p:sp>
      <p:sp>
        <p:nvSpPr>
          <p:cNvPr id="9" name="Shape 7"/>
          <p:cNvSpPr/>
          <p:nvPr/>
        </p:nvSpPr>
        <p:spPr>
          <a:xfrm>
            <a:off x="4434840" y="1143000"/>
            <a:ext cx="3246120" cy="96012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2000"/>
              </a:srgbClr>
            </a:outerShdw>
          </a:effectLst>
        </p:spPr>
      </p:sp>
      <p:sp>
        <p:nvSpPr>
          <p:cNvPr id="10" name="Shape 8"/>
          <p:cNvSpPr/>
          <p:nvPr/>
        </p:nvSpPr>
        <p:spPr>
          <a:xfrm>
            <a:off x="4434840" y="1143000"/>
            <a:ext cx="73152" cy="960120"/>
          </a:xfrm>
          <a:prstGeom prst="rect">
            <a:avLst/>
          </a:prstGeom>
          <a:solidFill>
            <a:srgbClr val="0EA5A8"/>
          </a:solidFill>
          <a:ln w="12700">
            <a:solidFill>
              <a:srgbClr val="0EA5A8"/>
            </a:solidFill>
            <a:prstDash val="solid"/>
          </a:ln>
        </p:spPr>
      </p:sp>
      <p:sp>
        <p:nvSpPr>
          <p:cNvPr id="11" name="Text 9"/>
          <p:cNvSpPr/>
          <p:nvPr/>
        </p:nvSpPr>
        <p:spPr>
          <a:xfrm>
            <a:off x="4617720" y="1252728"/>
            <a:ext cx="2926080" cy="256032"/>
          </a:xfrm>
          <a:prstGeom prst="rect">
            <a:avLst/>
          </a:prstGeom>
          <a:noFill/>
          <a:ln/>
        </p:spPr>
        <p:txBody>
          <a:bodyPr wrap="square" rtlCol="0" anchor="ctr"/>
          <a:lstStyle/>
          <a:p>
            <a:pPr indent="0" marL="0">
              <a:buNone/>
            </a:pPr>
            <a:r>
              <a:rPr lang="en-US" sz="1500" b="1" dirty="0">
                <a:solidFill>
                  <a:srgbClr val="0B1B3A"/>
                </a:solidFill>
                <a:latin typeface="Calibri" pitchFamily="34" charset="0"/>
                <a:ea typeface="Calibri" pitchFamily="34" charset="-122"/>
                <a:cs typeface="Calibri" pitchFamily="34" charset="-120"/>
              </a:rPr>
              <a:t>2) Prepare dataset</a:t>
            </a:r>
            <a:endParaRPr lang="en-US" sz="1500" dirty="0"/>
          </a:p>
        </p:txBody>
      </p:sp>
      <p:sp>
        <p:nvSpPr>
          <p:cNvPr id="12" name="Text 10"/>
          <p:cNvSpPr/>
          <p:nvPr/>
        </p:nvSpPr>
        <p:spPr>
          <a:xfrm>
            <a:off x="4617720" y="1554480"/>
            <a:ext cx="2926080" cy="54864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Shift dates to 2025/2026</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Rebuild Dim_Time_day (2025–2026)</a:t>
            </a:r>
            <a:endParaRPr lang="en-US" sz="1150" dirty="0"/>
          </a:p>
        </p:txBody>
      </p:sp>
      <p:sp>
        <p:nvSpPr>
          <p:cNvPr id="13" name="Shape 11"/>
          <p:cNvSpPr/>
          <p:nvPr/>
        </p:nvSpPr>
        <p:spPr>
          <a:xfrm>
            <a:off x="8092440" y="1143000"/>
            <a:ext cx="3246120" cy="96012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2000"/>
              </a:srgbClr>
            </a:outerShdw>
          </a:effectLst>
        </p:spPr>
      </p:sp>
      <p:sp>
        <p:nvSpPr>
          <p:cNvPr id="14" name="Shape 12"/>
          <p:cNvSpPr/>
          <p:nvPr/>
        </p:nvSpPr>
        <p:spPr>
          <a:xfrm>
            <a:off x="8092440" y="1143000"/>
            <a:ext cx="73152" cy="960120"/>
          </a:xfrm>
          <a:prstGeom prst="rect">
            <a:avLst/>
          </a:prstGeom>
          <a:solidFill>
            <a:srgbClr val="0B1B3A"/>
          </a:solidFill>
          <a:ln w="12700">
            <a:solidFill>
              <a:srgbClr val="0B1B3A"/>
            </a:solidFill>
            <a:prstDash val="solid"/>
          </a:ln>
        </p:spPr>
      </p:sp>
      <p:sp>
        <p:nvSpPr>
          <p:cNvPr id="15" name="Text 13"/>
          <p:cNvSpPr/>
          <p:nvPr/>
        </p:nvSpPr>
        <p:spPr>
          <a:xfrm>
            <a:off x="8275320" y="1252728"/>
            <a:ext cx="2926080" cy="256032"/>
          </a:xfrm>
          <a:prstGeom prst="rect">
            <a:avLst/>
          </a:prstGeom>
          <a:noFill/>
          <a:ln/>
        </p:spPr>
        <p:txBody>
          <a:bodyPr wrap="square" rtlCol="0" anchor="ctr"/>
          <a:lstStyle/>
          <a:p>
            <a:pPr indent="0" marL="0">
              <a:buNone/>
            </a:pPr>
            <a:r>
              <a:rPr lang="en-US" sz="1500" b="1" dirty="0">
                <a:solidFill>
                  <a:srgbClr val="0B1B3A"/>
                </a:solidFill>
                <a:latin typeface="Calibri" pitchFamily="34" charset="0"/>
                <a:ea typeface="Calibri" pitchFamily="34" charset="-122"/>
                <a:cs typeface="Calibri" pitchFamily="34" charset="-120"/>
              </a:rPr>
              <a:t>3) Power BI model</a:t>
            </a:r>
            <a:endParaRPr lang="en-US" sz="1500" dirty="0"/>
          </a:p>
        </p:txBody>
      </p:sp>
      <p:sp>
        <p:nvSpPr>
          <p:cNvPr id="16" name="Text 14"/>
          <p:cNvSpPr/>
          <p:nvPr/>
        </p:nvSpPr>
        <p:spPr>
          <a:xfrm>
            <a:off x="8275320" y="1554480"/>
            <a:ext cx="2926080" cy="548640"/>
          </a:xfrm>
          <a:prstGeom prst="rect">
            <a:avLst/>
          </a:prstGeom>
          <a:noFill/>
          <a:ln/>
        </p:spPr>
        <p:txBody>
          <a:bodyPr wrap="square" rtlCol="0" anchor="ctr"/>
          <a:lstStyle/>
          <a:p>
            <a:pPr indent="0" marL="0">
              <a:buNone/>
            </a:pPr>
            <a:r>
              <a:rPr lang="en-US" sz="1150" dirty="0">
                <a:solidFill>
                  <a:srgbClr val="374151"/>
                </a:solidFill>
                <a:latin typeface="Calibri" pitchFamily="34" charset="0"/>
                <a:ea typeface="Calibri" pitchFamily="34" charset="-122"/>
                <a:cs typeface="Calibri" pitchFamily="34" charset="-120"/>
              </a:rPr>
              <a:t>Star schema</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DAX measures A/B/C</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3 report pages</a:t>
            </a:r>
            <a:endParaRPr lang="en-US" sz="1150" dirty="0"/>
          </a:p>
        </p:txBody>
      </p:sp>
      <p:sp>
        <p:nvSpPr>
          <p:cNvPr id="17" name="Shape 15"/>
          <p:cNvSpPr/>
          <p:nvPr/>
        </p:nvSpPr>
        <p:spPr>
          <a:xfrm>
            <a:off x="777240" y="2514600"/>
            <a:ext cx="10637215" cy="3977640"/>
          </a:xfrm>
          <a:prstGeom prst="roundRect">
            <a:avLst/>
          </a:prstGeom>
          <a:solidFill>
            <a:srgbClr val="FFFFFF"/>
          </a:solidFill>
          <a:ln w="12700">
            <a:solidFill>
              <a:srgbClr val="E5E7EB"/>
            </a:solidFill>
            <a:prstDash val="solid"/>
          </a:ln>
        </p:spPr>
      </p:sp>
      <p:sp>
        <p:nvSpPr>
          <p:cNvPr id="18" name="Text 16"/>
          <p:cNvSpPr/>
          <p:nvPr/>
        </p:nvSpPr>
        <p:spPr>
          <a:xfrm>
            <a:off x="1005840" y="2670048"/>
            <a:ext cx="3657600" cy="228600"/>
          </a:xfrm>
          <a:prstGeom prst="rect">
            <a:avLst/>
          </a:prstGeom>
          <a:noFill/>
          <a:ln/>
        </p:spPr>
        <p:txBody>
          <a:bodyPr wrap="square" rtlCol="0" anchor="ctr"/>
          <a:lstStyle/>
          <a:p>
            <a:pPr indent="0" marL="0">
              <a:buNone/>
            </a:pPr>
            <a:r>
              <a:rPr lang="en-US" sz="1400" b="1" dirty="0">
                <a:solidFill>
                  <a:srgbClr val="0B1B3A"/>
                </a:solidFill>
              </a:rPr>
              <a:t>Power BI star schema</a:t>
            </a:r>
            <a:endParaRPr lang="en-US" sz="1400" dirty="0"/>
          </a:p>
        </p:txBody>
      </p:sp>
      <p:sp>
        <p:nvSpPr>
          <p:cNvPr id="19" name="Shape 17"/>
          <p:cNvSpPr/>
          <p:nvPr/>
        </p:nvSpPr>
        <p:spPr>
          <a:xfrm>
            <a:off x="4846320" y="3154680"/>
            <a:ext cx="2514600" cy="960120"/>
          </a:xfrm>
          <a:prstGeom prst="roundRect">
            <a:avLst/>
          </a:prstGeom>
          <a:solidFill>
            <a:srgbClr val="EEF2FF"/>
          </a:solidFill>
          <a:ln w="12700">
            <a:solidFill>
              <a:srgbClr val="C7D2FE"/>
            </a:solidFill>
            <a:prstDash val="solid"/>
          </a:ln>
        </p:spPr>
      </p:sp>
      <p:sp>
        <p:nvSpPr>
          <p:cNvPr id="20" name="Text 18"/>
          <p:cNvSpPr/>
          <p:nvPr/>
        </p:nvSpPr>
        <p:spPr>
          <a:xfrm>
            <a:off x="4983480" y="3273552"/>
            <a:ext cx="2240280" cy="320040"/>
          </a:xfrm>
          <a:prstGeom prst="rect">
            <a:avLst/>
          </a:prstGeom>
          <a:noFill/>
          <a:ln/>
        </p:spPr>
        <p:txBody>
          <a:bodyPr wrap="square" rtlCol="0" anchor="ctr"/>
          <a:lstStyle/>
          <a:p>
            <a:pPr indent="0" marL="0">
              <a:buNone/>
            </a:pPr>
            <a:r>
              <a:rPr lang="en-US" sz="1200" b="1" dirty="0">
                <a:solidFill>
                  <a:srgbClr val="0B1B3A"/>
                </a:solidFill>
              </a:rPr>
              <a:t>v_Fact_Activities_Shifted</a:t>
            </a:r>
            <a:endParaRPr lang="en-US" sz="1200" dirty="0"/>
          </a:p>
        </p:txBody>
      </p:sp>
      <p:sp>
        <p:nvSpPr>
          <p:cNvPr id="21" name="Text 19"/>
          <p:cNvSpPr/>
          <p:nvPr/>
        </p:nvSpPr>
        <p:spPr>
          <a:xfrm>
            <a:off x="5074920" y="3584448"/>
            <a:ext cx="2148840" cy="502920"/>
          </a:xfrm>
          <a:prstGeom prst="rect">
            <a:avLst/>
          </a:prstGeom>
          <a:noFill/>
          <a:ln/>
        </p:spPr>
        <p:txBody>
          <a:bodyPr wrap="square" rtlCol="0" anchor="ctr"/>
          <a:lstStyle/>
          <a:p>
            <a:pPr indent="0" marL="0">
              <a:buNone/>
            </a:pPr>
            <a:r>
              <a:rPr lang="en-US" sz="1100" dirty="0">
                <a:solidFill>
                  <a:srgbClr val="374151"/>
                </a:solidFill>
              </a:rPr>
              <a:t>• ind_id</a:t>
            </a:r>
            <a:endParaRPr lang="en-US" sz="1100" dirty="0"/>
          </a:p>
          <a:p>
            <a:pPr indent="0" marL="0">
              <a:buNone/>
            </a:pPr>
            <a:r>
              <a:rPr lang="en-US" sz="1100" dirty="0">
                <a:solidFill>
                  <a:srgbClr val="374151"/>
                </a:solidFill>
              </a:rPr>
              <a:t>• activity_date</a:t>
            </a:r>
            <a:endParaRPr lang="en-US" sz="1100" dirty="0"/>
          </a:p>
          <a:p>
            <a:pPr indent="0" marL="0">
              <a:buNone/>
            </a:pPr>
            <a:r>
              <a:rPr lang="en-US" sz="1100" dirty="0">
                <a:solidFill>
                  <a:srgbClr val="374151"/>
                </a:solidFill>
              </a:rPr>
              <a:t>• act_value</a:t>
            </a:r>
            <a:endParaRPr lang="en-US" sz="1100" dirty="0"/>
          </a:p>
        </p:txBody>
      </p:sp>
      <p:sp>
        <p:nvSpPr>
          <p:cNvPr id="22" name="Shape 20"/>
          <p:cNvSpPr/>
          <p:nvPr/>
        </p:nvSpPr>
        <p:spPr>
          <a:xfrm>
            <a:off x="1828800" y="2971800"/>
            <a:ext cx="2194560" cy="822960"/>
          </a:xfrm>
          <a:prstGeom prst="roundRect">
            <a:avLst/>
          </a:prstGeom>
          <a:solidFill>
            <a:srgbClr val="ECFEFF"/>
          </a:solidFill>
          <a:ln w="12700">
            <a:solidFill>
              <a:srgbClr val="A5F3FC"/>
            </a:solidFill>
            <a:prstDash val="solid"/>
          </a:ln>
        </p:spPr>
      </p:sp>
      <p:sp>
        <p:nvSpPr>
          <p:cNvPr id="23" name="Text 21"/>
          <p:cNvSpPr/>
          <p:nvPr/>
        </p:nvSpPr>
        <p:spPr>
          <a:xfrm>
            <a:off x="1965960" y="3072384"/>
            <a:ext cx="1920240" cy="274320"/>
          </a:xfrm>
          <a:prstGeom prst="rect">
            <a:avLst/>
          </a:prstGeom>
          <a:noFill/>
          <a:ln/>
        </p:spPr>
        <p:txBody>
          <a:bodyPr wrap="square" rtlCol="0" anchor="ctr"/>
          <a:lstStyle/>
          <a:p>
            <a:pPr indent="0" marL="0">
              <a:buNone/>
            </a:pPr>
            <a:r>
              <a:rPr lang="en-US" sz="1200" b="1" dirty="0">
                <a:solidFill>
                  <a:srgbClr val="0B1B3A"/>
                </a:solidFill>
              </a:rPr>
              <a:t>Dim_Indicator</a:t>
            </a:r>
            <a:endParaRPr lang="en-US" sz="1200" dirty="0"/>
          </a:p>
        </p:txBody>
      </p:sp>
      <p:sp>
        <p:nvSpPr>
          <p:cNvPr id="24" name="Text 22"/>
          <p:cNvSpPr/>
          <p:nvPr/>
        </p:nvSpPr>
        <p:spPr>
          <a:xfrm>
            <a:off x="1965960" y="3319272"/>
            <a:ext cx="1920240" cy="228600"/>
          </a:xfrm>
          <a:prstGeom prst="rect">
            <a:avLst/>
          </a:prstGeom>
          <a:noFill/>
          <a:ln/>
        </p:spPr>
        <p:txBody>
          <a:bodyPr wrap="square" rtlCol="0" anchor="ctr"/>
          <a:lstStyle/>
          <a:p>
            <a:pPr indent="0" marL="0">
              <a:buNone/>
            </a:pPr>
            <a:r>
              <a:rPr lang="en-US" sz="1050" dirty="0">
                <a:solidFill>
                  <a:srgbClr val="374151"/>
                </a:solidFill>
              </a:rPr>
              <a:t>ind_id, ind_desc…</a:t>
            </a:r>
            <a:endParaRPr lang="en-US" sz="1050" dirty="0"/>
          </a:p>
        </p:txBody>
      </p:sp>
      <p:sp>
        <p:nvSpPr>
          <p:cNvPr id="25" name="Shape 23"/>
          <p:cNvSpPr/>
          <p:nvPr/>
        </p:nvSpPr>
        <p:spPr>
          <a:xfrm>
            <a:off x="1828800" y="3977640"/>
            <a:ext cx="2194560" cy="822960"/>
          </a:xfrm>
          <a:prstGeom prst="roundRect">
            <a:avLst/>
          </a:prstGeom>
          <a:solidFill>
            <a:srgbClr val="ECFEFF"/>
          </a:solidFill>
          <a:ln w="12700">
            <a:solidFill>
              <a:srgbClr val="A5F3FC"/>
            </a:solidFill>
            <a:prstDash val="solid"/>
          </a:ln>
        </p:spPr>
      </p:sp>
      <p:sp>
        <p:nvSpPr>
          <p:cNvPr id="26" name="Text 24"/>
          <p:cNvSpPr/>
          <p:nvPr/>
        </p:nvSpPr>
        <p:spPr>
          <a:xfrm>
            <a:off x="1965960" y="4078224"/>
            <a:ext cx="1920240" cy="274320"/>
          </a:xfrm>
          <a:prstGeom prst="rect">
            <a:avLst/>
          </a:prstGeom>
          <a:noFill/>
          <a:ln/>
        </p:spPr>
        <p:txBody>
          <a:bodyPr wrap="square" rtlCol="0" anchor="ctr"/>
          <a:lstStyle/>
          <a:p>
            <a:pPr indent="0" marL="0">
              <a:buNone/>
            </a:pPr>
            <a:r>
              <a:rPr lang="en-US" sz="1200" b="1" dirty="0">
                <a:solidFill>
                  <a:srgbClr val="0B1B3A"/>
                </a:solidFill>
              </a:rPr>
              <a:t>Dim_Time_day</a:t>
            </a:r>
            <a:endParaRPr lang="en-US" sz="1200" dirty="0"/>
          </a:p>
        </p:txBody>
      </p:sp>
      <p:sp>
        <p:nvSpPr>
          <p:cNvPr id="27" name="Text 25"/>
          <p:cNvSpPr/>
          <p:nvPr/>
        </p:nvSpPr>
        <p:spPr>
          <a:xfrm>
            <a:off x="1965960" y="4325112"/>
            <a:ext cx="1920240" cy="228600"/>
          </a:xfrm>
          <a:prstGeom prst="rect">
            <a:avLst/>
          </a:prstGeom>
          <a:noFill/>
          <a:ln/>
        </p:spPr>
        <p:txBody>
          <a:bodyPr wrap="square" rtlCol="0" anchor="ctr"/>
          <a:lstStyle/>
          <a:p>
            <a:pPr indent="0" marL="0">
              <a:buNone/>
            </a:pPr>
            <a:r>
              <a:rPr lang="en-US" sz="1050" dirty="0">
                <a:solidFill>
                  <a:srgbClr val="374151"/>
                </a:solidFill>
              </a:rPr>
              <a:t>day_date, week_id…</a:t>
            </a:r>
            <a:endParaRPr lang="en-US" sz="1050" dirty="0"/>
          </a:p>
        </p:txBody>
      </p:sp>
      <p:sp>
        <p:nvSpPr>
          <p:cNvPr id="28" name="Shape 26"/>
          <p:cNvSpPr/>
          <p:nvPr/>
        </p:nvSpPr>
        <p:spPr>
          <a:xfrm>
            <a:off x="4069080" y="3383280"/>
            <a:ext cx="777240" cy="0"/>
          </a:xfrm>
          <a:prstGeom prst="line">
            <a:avLst/>
          </a:prstGeom>
          <a:noFill/>
          <a:ln w="25400">
            <a:solidFill>
              <a:srgbClr val="6B7280"/>
            </a:solidFill>
            <a:prstDash val="solid"/>
            <a:headEnd type="none"/>
            <a:tailEnd type="triangle"/>
          </a:ln>
        </p:spPr>
      </p:sp>
      <p:sp>
        <p:nvSpPr>
          <p:cNvPr id="29" name="Shape 27"/>
          <p:cNvSpPr/>
          <p:nvPr/>
        </p:nvSpPr>
        <p:spPr>
          <a:xfrm>
            <a:off x="4069080" y="4389120"/>
            <a:ext cx="777240" cy="-731520"/>
          </a:xfrm>
          <a:prstGeom prst="line">
            <a:avLst/>
          </a:prstGeom>
          <a:noFill/>
          <a:ln w="25400">
            <a:solidFill>
              <a:srgbClr val="6B7280"/>
            </a:solidFill>
            <a:prstDash val="solid"/>
            <a:headEnd type="none"/>
            <a:tailEnd type="triangle"/>
          </a:ln>
        </p:spPr>
      </p:sp>
      <p:sp>
        <p:nvSpPr>
          <p:cNvPr id="30" name="Text 28"/>
          <p:cNvSpPr/>
          <p:nvPr/>
        </p:nvSpPr>
        <p:spPr>
          <a:xfrm>
            <a:off x="1005840" y="5074920"/>
            <a:ext cx="3566160" cy="274320"/>
          </a:xfrm>
          <a:prstGeom prst="rect">
            <a:avLst/>
          </a:prstGeom>
          <a:noFill/>
          <a:ln/>
        </p:spPr>
        <p:txBody>
          <a:bodyPr wrap="square" rtlCol="0" anchor="ctr"/>
          <a:lstStyle/>
          <a:p>
            <a:pPr indent="0" marL="0">
              <a:buNone/>
            </a:pPr>
            <a:r>
              <a:rPr lang="en-US" sz="1600" b="1" dirty="0">
                <a:solidFill>
                  <a:srgbClr val="0B1B3A"/>
                </a:solidFill>
                <a:latin typeface="Calibri" pitchFamily="34" charset="0"/>
                <a:ea typeface="Calibri" pitchFamily="34" charset="-122"/>
                <a:cs typeface="Calibri" pitchFamily="34" charset="-120"/>
              </a:rPr>
              <a:t>Implementation notes</a:t>
            </a:r>
            <a:endParaRPr lang="en-US" sz="1600" dirty="0"/>
          </a:p>
        </p:txBody>
      </p:sp>
      <p:sp>
        <p:nvSpPr>
          <p:cNvPr id="31" name="Text 29"/>
          <p:cNvSpPr/>
          <p:nvPr/>
        </p:nvSpPr>
        <p:spPr>
          <a:xfrm>
            <a:off x="1005840" y="5458968"/>
            <a:ext cx="3566160" cy="1920240"/>
          </a:xfrm>
          <a:prstGeom prst="rect">
            <a:avLst/>
          </a:prstGeom>
          <a:noFill/>
          <a:ln/>
        </p:spPr>
        <p:txBody>
          <a:bodyPr wrap="square" rtlCol="0" anchor="t"/>
          <a:lstStyle/>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Date table is marked in Power BI to enable time-intelligence patterns.</a:t>
            </a:r>
            <a:endParaRPr lang="en-US" sz="1250" dirty="0"/>
          </a:p>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AsOfDate anchored to the latest FACT date (prevents empty future dates).</a:t>
            </a:r>
            <a:endParaRPr lang="en-US" sz="1250" dirty="0"/>
          </a:p>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All KPIs are filtered by selected Indicator (Dim_Indicator).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FFFFFF"/>
          </a:solidFill>
          <a:ln w="12700">
            <a:solidFill>
              <a:srgbClr val="E5E7EB"/>
            </a:solidFill>
            <a:prstDash val="solid"/>
          </a:ln>
        </p:spPr>
      </p:sp>
      <p:sp>
        <p:nvSpPr>
          <p:cNvPr id="3" name="Text 1"/>
          <p:cNvSpPr/>
          <p:nvPr/>
        </p:nvSpPr>
        <p:spPr>
          <a:xfrm>
            <a:off x="548640" y="146304"/>
            <a:ext cx="8686800" cy="365760"/>
          </a:xfrm>
          <a:prstGeom prst="rect">
            <a:avLst/>
          </a:prstGeom>
          <a:noFill/>
          <a:ln/>
        </p:spPr>
        <p:txBody>
          <a:bodyPr wrap="square" rtlCol="0" anchor="ctr"/>
          <a:lstStyle/>
          <a:p>
            <a:pPr indent="0" marL="0">
              <a:buNone/>
            </a:pPr>
            <a:r>
              <a:rPr lang="en-US" sz="2000" b="1" dirty="0">
                <a:solidFill>
                  <a:srgbClr val="0B1B3A"/>
                </a:solidFill>
                <a:latin typeface="Calibri" pitchFamily="34" charset="0"/>
                <a:ea typeface="Calibri" pitchFamily="34" charset="-122"/>
                <a:cs typeface="Calibri" pitchFamily="34" charset="-120"/>
              </a:rPr>
              <a:t>Database restore (Cloud SQL for SQL Server)</a:t>
            </a:r>
            <a:endParaRPr lang="en-US" sz="2000" dirty="0"/>
          </a:p>
        </p:txBody>
      </p:sp>
      <p:sp>
        <p:nvSpPr>
          <p:cNvPr id="4" name="Text 2"/>
          <p:cNvSpPr/>
          <p:nvPr/>
        </p:nvSpPr>
        <p:spPr>
          <a:xfrm>
            <a:off x="548640" y="420624"/>
            <a:ext cx="9601200" cy="201168"/>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Import .bak into the SQL Server instance</a:t>
            </a:r>
            <a:endParaRPr lang="en-US" sz="1100" dirty="0"/>
          </a:p>
        </p:txBody>
      </p:sp>
      <p:sp>
        <p:nvSpPr>
          <p:cNvPr id="5" name="Shape 3"/>
          <p:cNvSpPr/>
          <p:nvPr/>
        </p:nvSpPr>
        <p:spPr>
          <a:xfrm>
            <a:off x="777240" y="1143000"/>
            <a:ext cx="5669280" cy="187452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6" name="Text 4"/>
          <p:cNvSpPr/>
          <p:nvPr/>
        </p:nvSpPr>
        <p:spPr>
          <a:xfrm>
            <a:off x="1005840" y="1307592"/>
            <a:ext cx="521208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Restore steps</a:t>
            </a:r>
            <a:endParaRPr lang="en-US" sz="1400" dirty="0"/>
          </a:p>
        </p:txBody>
      </p:sp>
      <p:sp>
        <p:nvSpPr>
          <p:cNvPr id="7" name="Text 5"/>
          <p:cNvSpPr/>
          <p:nvPr/>
        </p:nvSpPr>
        <p:spPr>
          <a:xfrm>
            <a:off x="1005840" y="1645920"/>
            <a:ext cx="5212080" cy="123444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1) Upload the .bak file to Cloud Storage</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2) Import/restore into Cloud SQL (SQL Server)</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3) Verify database and user credentials</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4) Confirm connectivity from Power BI (public IP or proxy)</a:t>
            </a:r>
            <a:endParaRPr lang="en-US" sz="1150" dirty="0"/>
          </a:p>
        </p:txBody>
      </p:sp>
      <p:sp>
        <p:nvSpPr>
          <p:cNvPr id="8" name="Shape 6"/>
          <p:cNvSpPr/>
          <p:nvPr/>
        </p:nvSpPr>
        <p:spPr>
          <a:xfrm>
            <a:off x="6720840" y="1143000"/>
            <a:ext cx="4709160" cy="1874520"/>
          </a:xfrm>
          <a:prstGeom prst="roundRect">
            <a:avLst/>
          </a:prstGeom>
          <a:solidFill>
            <a:srgbClr val="0B1220"/>
          </a:solidFill>
          <a:ln w="12700">
            <a:solidFill>
              <a:srgbClr val="0B1220"/>
            </a:solidFill>
            <a:prstDash val="solid"/>
          </a:ln>
        </p:spPr>
      </p:sp>
      <p:sp>
        <p:nvSpPr>
          <p:cNvPr id="9" name="Text 7"/>
          <p:cNvSpPr/>
          <p:nvPr/>
        </p:nvSpPr>
        <p:spPr>
          <a:xfrm>
            <a:off x="6949440" y="1298448"/>
            <a:ext cx="42976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Example CLI</a:t>
            </a:r>
            <a:endParaRPr lang="en-US" sz="1200" dirty="0"/>
          </a:p>
        </p:txBody>
      </p:sp>
      <p:sp>
        <p:nvSpPr>
          <p:cNvPr id="10" name="Text 8"/>
          <p:cNvSpPr/>
          <p:nvPr/>
        </p:nvSpPr>
        <p:spPr>
          <a:xfrm>
            <a:off x="6949440" y="1627632"/>
            <a:ext cx="4389120" cy="1280160"/>
          </a:xfrm>
          <a:prstGeom prst="rect">
            <a:avLst/>
          </a:prstGeom>
          <a:noFill/>
          <a:ln/>
        </p:spPr>
        <p:txBody>
          <a:bodyPr wrap="square" rtlCol="0" anchor="t"/>
          <a:lstStyle/>
          <a:p>
            <a:pPr indent="0" marL="0">
              <a:buNone/>
            </a:pPr>
            <a:r>
              <a:rPr lang="en-US" sz="1200" dirty="0">
                <a:solidFill>
                  <a:srgbClr val="D1D5DB"/>
                </a:solidFill>
                <a:latin typeface="Consolas" pitchFamily="34" charset="0"/>
                <a:ea typeface="Consolas" pitchFamily="34" charset="-122"/>
                <a:cs typeface="Consolas" pitchFamily="34" charset="-120"/>
              </a:rPr>
              <a:t>gcloud sql import bak INSTANCE \</a:t>
            </a:r>
            <a:endParaRPr lang="en-US" sz="1200" dirty="0"/>
          </a:p>
          <a:p>
            <a:pPr indent="0" marL="0">
              <a:buNone/>
            </a:pPr>
            <a:r>
              <a:rPr lang="en-US" sz="1200" dirty="0">
                <a:solidFill>
                  <a:srgbClr val="D1D5DB"/>
                </a:solidFill>
                <a:latin typeface="Consolas" pitchFamily="34" charset="0"/>
                <a:ea typeface="Consolas" pitchFamily="34" charset="-122"/>
                <a:cs typeface="Consolas" pitchFamily="34" charset="-120"/>
              </a:rPr>
              <a:t>+  gs://BUCKET/backup.bak \</a:t>
            </a:r>
            <a:endParaRPr lang="en-US" sz="1200" dirty="0"/>
          </a:p>
          <a:p>
            <a:pPr indent="0" marL="0">
              <a:buNone/>
            </a:pPr>
            <a:r>
              <a:rPr lang="en-US" sz="1200" dirty="0">
                <a:solidFill>
                  <a:srgbClr val="D1D5DB"/>
                </a:solidFill>
                <a:latin typeface="Consolas" pitchFamily="34" charset="0"/>
                <a:ea typeface="Consolas" pitchFamily="34" charset="-122"/>
                <a:cs typeface="Consolas" pitchFamily="34" charset="-120"/>
              </a:rPr>
              <a:t>+  --database=DB_NAME</a:t>
            </a:r>
            <a:endParaRPr lang="en-US" sz="1200" dirty="0"/>
          </a:p>
        </p:txBody>
      </p:sp>
      <p:sp>
        <p:nvSpPr>
          <p:cNvPr id="11" name="Shape 9"/>
          <p:cNvSpPr/>
          <p:nvPr/>
        </p:nvSpPr>
        <p:spPr>
          <a:xfrm>
            <a:off x="777240" y="3246120"/>
            <a:ext cx="10637215" cy="333756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12" name="Text 10"/>
          <p:cNvSpPr/>
          <p:nvPr/>
        </p:nvSpPr>
        <p:spPr>
          <a:xfrm>
            <a:off x="1005840" y="3410712"/>
            <a:ext cx="10180015"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Why this matters</a:t>
            </a:r>
            <a:endParaRPr lang="en-US" sz="1400" dirty="0"/>
          </a:p>
        </p:txBody>
      </p:sp>
      <p:sp>
        <p:nvSpPr>
          <p:cNvPr id="13" name="Text 11"/>
          <p:cNvSpPr/>
          <p:nvPr/>
        </p:nvSpPr>
        <p:spPr>
          <a:xfrm>
            <a:off x="1005840" y="3749040"/>
            <a:ext cx="10180015" cy="269748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The restored database is the single source used by Power BI. The remaining steps (date shifting, date dimension rebuild, measures) are layered on top without changing the original backup tables.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FFFFFF"/>
          </a:solidFill>
          <a:ln w="12700">
            <a:solidFill>
              <a:srgbClr val="E5E7EB"/>
            </a:solidFill>
            <a:prstDash val="solid"/>
          </a:ln>
        </p:spPr>
      </p:sp>
      <p:sp>
        <p:nvSpPr>
          <p:cNvPr id="3" name="Text 1"/>
          <p:cNvSpPr/>
          <p:nvPr/>
        </p:nvSpPr>
        <p:spPr>
          <a:xfrm>
            <a:off x="548640" y="146304"/>
            <a:ext cx="8686800" cy="365760"/>
          </a:xfrm>
          <a:prstGeom prst="rect">
            <a:avLst/>
          </a:prstGeom>
          <a:noFill/>
          <a:ln/>
        </p:spPr>
        <p:txBody>
          <a:bodyPr wrap="square" rtlCol="0" anchor="ctr"/>
          <a:lstStyle/>
          <a:p>
            <a:pPr indent="0" marL="0">
              <a:buNone/>
            </a:pPr>
            <a:r>
              <a:rPr lang="en-US" sz="2000" b="1" dirty="0">
                <a:solidFill>
                  <a:srgbClr val="0B1B3A"/>
                </a:solidFill>
                <a:latin typeface="Calibri" pitchFamily="34" charset="0"/>
                <a:ea typeface="Calibri" pitchFamily="34" charset="-122"/>
                <a:cs typeface="Calibri" pitchFamily="34" charset="-120"/>
              </a:rPr>
              <a:t>Data preparation (SQL)</a:t>
            </a:r>
            <a:endParaRPr lang="en-US" sz="2000" dirty="0"/>
          </a:p>
        </p:txBody>
      </p:sp>
      <p:sp>
        <p:nvSpPr>
          <p:cNvPr id="4" name="Text 2"/>
          <p:cNvSpPr/>
          <p:nvPr/>
        </p:nvSpPr>
        <p:spPr>
          <a:xfrm>
            <a:off x="548640" y="420624"/>
            <a:ext cx="9601200" cy="201168"/>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Shift dates to 2025/2026 and rebuild the date dimension</a:t>
            </a:r>
            <a:endParaRPr lang="en-US" sz="1100" dirty="0"/>
          </a:p>
        </p:txBody>
      </p:sp>
      <p:sp>
        <p:nvSpPr>
          <p:cNvPr id="5" name="Text 3"/>
          <p:cNvSpPr/>
          <p:nvPr/>
        </p:nvSpPr>
        <p:spPr>
          <a:xfrm>
            <a:off x="777240" y="1051560"/>
            <a:ext cx="5486400" cy="274320"/>
          </a:xfrm>
          <a:prstGeom prst="rect">
            <a:avLst/>
          </a:prstGeom>
          <a:noFill/>
          <a:ln/>
        </p:spPr>
        <p:txBody>
          <a:bodyPr wrap="square" rtlCol="0" anchor="ctr"/>
          <a:lstStyle/>
          <a:p>
            <a:pPr indent="0" marL="0">
              <a:buNone/>
            </a:pPr>
            <a:r>
              <a:rPr lang="en-US" sz="1600" b="1" dirty="0">
                <a:solidFill>
                  <a:srgbClr val="0B1B3A"/>
                </a:solidFill>
                <a:latin typeface="Calibri" pitchFamily="34" charset="0"/>
                <a:ea typeface="Calibri" pitchFamily="34" charset="-122"/>
                <a:cs typeface="Calibri" pitchFamily="34" charset="-120"/>
              </a:rPr>
              <a:t>Key changes</a:t>
            </a:r>
            <a:endParaRPr lang="en-US" sz="1600" dirty="0"/>
          </a:p>
        </p:txBody>
      </p:sp>
      <p:sp>
        <p:nvSpPr>
          <p:cNvPr id="6" name="Text 4"/>
          <p:cNvSpPr/>
          <p:nvPr/>
        </p:nvSpPr>
        <p:spPr>
          <a:xfrm>
            <a:off x="777240" y="1435608"/>
            <a:ext cx="5486400" cy="1920240"/>
          </a:xfrm>
          <a:prstGeom prst="rect">
            <a:avLst/>
          </a:prstGeom>
          <a:noFill/>
          <a:ln/>
        </p:spPr>
        <p:txBody>
          <a:bodyPr wrap="square" rtlCol="0" anchor="t"/>
          <a:lstStyle/>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Create a view (v_Fact_Activities_Shifted) that moves activity_date forward by +4 years (2021→2025, 2022→2026).</a:t>
            </a:r>
            <a:endParaRPr lang="en-US" sz="1250" dirty="0"/>
          </a:p>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Cast act_value to INT (defaults invalid values to 0).</a:t>
            </a:r>
            <a:endParaRPr lang="en-US" sz="1250" dirty="0"/>
          </a:p>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Rebuild Dim_Time_day for a full daily calendar (2025-01-01 → 2026-12-31) with ISO week_id and LY/LW helper dates.</a:t>
            </a:r>
            <a:endParaRPr lang="en-US" sz="1250" dirty="0"/>
          </a:p>
        </p:txBody>
      </p:sp>
      <p:sp>
        <p:nvSpPr>
          <p:cNvPr id="7" name="Shape 5"/>
          <p:cNvSpPr/>
          <p:nvPr/>
        </p:nvSpPr>
        <p:spPr>
          <a:xfrm>
            <a:off x="6446520" y="1051560"/>
            <a:ext cx="4965192" cy="5257800"/>
          </a:xfrm>
          <a:prstGeom prst="roundRect">
            <a:avLst/>
          </a:prstGeom>
          <a:solidFill>
            <a:srgbClr val="0B1220"/>
          </a:solidFill>
          <a:ln w="12700">
            <a:solidFill>
              <a:srgbClr val="0B1220"/>
            </a:solidFill>
            <a:prstDash val="solid"/>
          </a:ln>
        </p:spPr>
      </p:sp>
      <p:sp>
        <p:nvSpPr>
          <p:cNvPr id="8" name="Text 6"/>
          <p:cNvSpPr/>
          <p:nvPr/>
        </p:nvSpPr>
        <p:spPr>
          <a:xfrm>
            <a:off x="6675120" y="1207008"/>
            <a:ext cx="45262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Snippet (shift view)</a:t>
            </a:r>
            <a:endParaRPr lang="en-US" sz="1200" dirty="0"/>
          </a:p>
        </p:txBody>
      </p:sp>
      <p:sp>
        <p:nvSpPr>
          <p:cNvPr id="9" name="Text 7"/>
          <p:cNvSpPr/>
          <p:nvPr/>
        </p:nvSpPr>
        <p:spPr>
          <a:xfrm>
            <a:off x="6675120" y="1554480"/>
            <a:ext cx="4572000" cy="1097280"/>
          </a:xfrm>
          <a:prstGeom prst="rect">
            <a:avLst/>
          </a:prstGeom>
          <a:noFill/>
          <a:ln/>
        </p:spPr>
        <p:txBody>
          <a:bodyPr wrap="square" rtlCol="0" anchor="t"/>
          <a:lstStyle/>
          <a:p>
            <a:pPr indent="0" marL="0">
              <a:buNone/>
            </a:pPr>
            <a:r>
              <a:rPr lang="en-US" sz="1200" dirty="0">
                <a:solidFill>
                  <a:srgbClr val="D1D5DB"/>
                </a:solidFill>
                <a:latin typeface="Consolas" pitchFamily="34" charset="0"/>
                <a:ea typeface="Consolas" pitchFamily="34" charset="-122"/>
                <a:cs typeface="Consolas" pitchFamily="34" charset="-120"/>
              </a:rPr>
              <a:t>DATEADD(year, 4, CONVERT(date,</a:t>
            </a:r>
            <a:endParaRPr lang="en-US" sz="1200" dirty="0"/>
          </a:p>
          <a:p>
            <a:pPr indent="0" marL="0">
              <a:buNone/>
            </a:pPr>
            <a:r>
              <a:rPr lang="en-US" sz="1200" dirty="0">
                <a:solidFill>
                  <a:srgbClr val="D1D5DB"/>
                </a:solidFill>
                <a:latin typeface="Consolas" pitchFamily="34" charset="0"/>
                <a:ea typeface="Consolas" pitchFamily="34" charset="-122"/>
                <a:cs typeface="Consolas" pitchFamily="34" charset="-120"/>
              </a:rPr>
              <a:t>  TRY_CONVERT(datetimeoffset(0), activity_date)))</a:t>
            </a:r>
            <a:endParaRPr lang="en-US" sz="1200" dirty="0"/>
          </a:p>
          <a:p>
            <a:pPr indent="0" marL="0">
              <a:buNone/>
            </a:pPr>
            <a:r>
              <a:rPr lang="en-US" sz="1200" dirty="0">
                <a:solidFill>
                  <a:srgbClr val="D1D5DB"/>
                </a:solidFill>
                <a:latin typeface="Consolas" pitchFamily="34" charset="0"/>
                <a:ea typeface="Consolas" pitchFamily="34" charset="-122"/>
                <a:cs typeface="Consolas" pitchFamily="34" charset="-120"/>
              </a:rPr>
              <a:t>AS activity_date</a:t>
            </a:r>
            <a:endParaRPr lang="en-US" sz="1200" dirty="0"/>
          </a:p>
        </p:txBody>
      </p:sp>
      <p:sp>
        <p:nvSpPr>
          <p:cNvPr id="10" name="Text 8"/>
          <p:cNvSpPr/>
          <p:nvPr/>
        </p:nvSpPr>
        <p:spPr>
          <a:xfrm>
            <a:off x="6675120" y="2834640"/>
            <a:ext cx="457200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Snippet (ISO week_id)</a:t>
            </a:r>
            <a:endParaRPr lang="en-US" sz="1200" dirty="0"/>
          </a:p>
        </p:txBody>
      </p:sp>
      <p:sp>
        <p:nvSpPr>
          <p:cNvPr id="11" name="Text 9"/>
          <p:cNvSpPr/>
          <p:nvPr/>
        </p:nvSpPr>
        <p:spPr>
          <a:xfrm>
            <a:off x="6675120" y="3182112"/>
            <a:ext cx="4617720" cy="1417320"/>
          </a:xfrm>
          <a:prstGeom prst="rect">
            <a:avLst/>
          </a:prstGeom>
          <a:noFill/>
          <a:ln/>
        </p:spPr>
        <p:txBody>
          <a:bodyPr wrap="square" rtlCol="0" anchor="t"/>
          <a:lstStyle/>
          <a:p>
            <a:pPr indent="0" marL="0">
              <a:buNone/>
            </a:pPr>
            <a:r>
              <a:rPr lang="en-US" sz="1120" dirty="0">
                <a:solidFill>
                  <a:srgbClr val="D1D5DB"/>
                </a:solidFill>
                <a:latin typeface="Consolas" pitchFamily="34" charset="0"/>
                <a:ea typeface="Consolas" pitchFamily="34" charset="-122"/>
                <a:cs typeface="Consolas" pitchFamily="34" charset="-120"/>
              </a:rPr>
              <a:t>CONCAT(</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  YEAR(DATEADD(day,3, DATETRUNC(iso_week, d))),</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  RIGHT('00'+CAST(DATEPART(iso_week,d) AS varchar(2)),2)</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 AS week_id</a:t>
            </a:r>
            <a:endParaRPr lang="en-US" sz="1120" dirty="0"/>
          </a:p>
        </p:txBody>
      </p:sp>
      <p:sp>
        <p:nvSpPr>
          <p:cNvPr id="12" name="Shape 10"/>
          <p:cNvSpPr/>
          <p:nvPr/>
        </p:nvSpPr>
        <p:spPr>
          <a:xfrm>
            <a:off x="777240" y="5440680"/>
            <a:ext cx="5486400" cy="91440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13" name="Text 11"/>
          <p:cNvSpPr/>
          <p:nvPr/>
        </p:nvSpPr>
        <p:spPr>
          <a:xfrm>
            <a:off x="1005840" y="5605272"/>
            <a:ext cx="502920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Outcome</a:t>
            </a:r>
            <a:endParaRPr lang="en-US" sz="1400" dirty="0"/>
          </a:p>
        </p:txBody>
      </p:sp>
      <p:sp>
        <p:nvSpPr>
          <p:cNvPr id="14" name="Text 12"/>
          <p:cNvSpPr/>
          <p:nvPr/>
        </p:nvSpPr>
        <p:spPr>
          <a:xfrm>
            <a:off x="1005840" y="5943600"/>
            <a:ext cx="5029200" cy="27432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Power BI can treat the dataset as “current/previous year” and compute YTD/LY and rolling windows using a complete date dimension.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FFFFFF"/>
          </a:solidFill>
          <a:ln w="12700">
            <a:solidFill>
              <a:srgbClr val="E5E7EB"/>
            </a:solidFill>
            <a:prstDash val="solid"/>
          </a:ln>
        </p:spPr>
      </p:sp>
      <p:sp>
        <p:nvSpPr>
          <p:cNvPr id="3" name="Text 1"/>
          <p:cNvSpPr/>
          <p:nvPr/>
        </p:nvSpPr>
        <p:spPr>
          <a:xfrm>
            <a:off x="548640" y="146304"/>
            <a:ext cx="8686800" cy="365760"/>
          </a:xfrm>
          <a:prstGeom prst="rect">
            <a:avLst/>
          </a:prstGeom>
          <a:noFill/>
          <a:ln/>
        </p:spPr>
        <p:txBody>
          <a:bodyPr wrap="square" rtlCol="0" anchor="ctr"/>
          <a:lstStyle/>
          <a:p>
            <a:pPr indent="0" marL="0">
              <a:buNone/>
            </a:pPr>
            <a:r>
              <a:rPr lang="en-US" sz="2000" b="1" dirty="0">
                <a:solidFill>
                  <a:srgbClr val="0B1B3A"/>
                </a:solidFill>
                <a:latin typeface="Calibri" pitchFamily="34" charset="0"/>
                <a:ea typeface="Calibri" pitchFamily="34" charset="-122"/>
                <a:cs typeface="Calibri" pitchFamily="34" charset="-120"/>
              </a:rPr>
              <a:t>Power BI model</a:t>
            </a:r>
            <a:endParaRPr lang="en-US" sz="2000" dirty="0"/>
          </a:p>
        </p:txBody>
      </p:sp>
      <p:sp>
        <p:nvSpPr>
          <p:cNvPr id="4" name="Text 2"/>
          <p:cNvSpPr/>
          <p:nvPr/>
        </p:nvSpPr>
        <p:spPr>
          <a:xfrm>
            <a:off x="548640" y="420624"/>
            <a:ext cx="9601200" cy="201168"/>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Tables loaded, relationships, and refresh</a:t>
            </a:r>
            <a:endParaRPr lang="en-US" sz="1100" dirty="0"/>
          </a:p>
        </p:txBody>
      </p:sp>
      <p:sp>
        <p:nvSpPr>
          <p:cNvPr id="5" name="Shape 3"/>
          <p:cNvSpPr/>
          <p:nvPr/>
        </p:nvSpPr>
        <p:spPr>
          <a:xfrm>
            <a:off x="777240" y="1143000"/>
            <a:ext cx="5715000" cy="214884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6" name="Text 4"/>
          <p:cNvSpPr/>
          <p:nvPr/>
        </p:nvSpPr>
        <p:spPr>
          <a:xfrm>
            <a:off x="1005840" y="1307592"/>
            <a:ext cx="525780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Imported tables</a:t>
            </a:r>
            <a:endParaRPr lang="en-US" sz="1400" dirty="0"/>
          </a:p>
        </p:txBody>
      </p:sp>
      <p:sp>
        <p:nvSpPr>
          <p:cNvPr id="7" name="Text 5"/>
          <p:cNvSpPr/>
          <p:nvPr/>
        </p:nvSpPr>
        <p:spPr>
          <a:xfrm>
            <a:off x="1005840" y="1645920"/>
            <a:ext cx="5257800" cy="150876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 dbo.v_Fact_Activities_Shifted</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dbo.Dim_Indicator</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dbo.Dim_Time_day</a:t>
            </a:r>
            <a:endParaRPr lang="en-US" sz="1150" dirty="0"/>
          </a:p>
          <a:p>
            <a:pPr indent="0" marL="0">
              <a:buNone/>
            </a:pP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Optional: Dim_Employees for future slicing (not required for KPIs).</a:t>
            </a:r>
            <a:endParaRPr lang="en-US" sz="1150" dirty="0"/>
          </a:p>
        </p:txBody>
      </p:sp>
      <p:sp>
        <p:nvSpPr>
          <p:cNvPr id="8" name="Shape 6"/>
          <p:cNvSpPr/>
          <p:nvPr/>
        </p:nvSpPr>
        <p:spPr>
          <a:xfrm>
            <a:off x="777240" y="3520440"/>
            <a:ext cx="5715000" cy="278892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9" name="Text 7"/>
          <p:cNvSpPr/>
          <p:nvPr/>
        </p:nvSpPr>
        <p:spPr>
          <a:xfrm>
            <a:off x="1005840" y="3685032"/>
            <a:ext cx="525780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Relationships + settings</a:t>
            </a:r>
            <a:endParaRPr lang="en-US" sz="1400" dirty="0"/>
          </a:p>
        </p:txBody>
      </p:sp>
      <p:sp>
        <p:nvSpPr>
          <p:cNvPr id="10" name="Text 8"/>
          <p:cNvSpPr/>
          <p:nvPr/>
        </p:nvSpPr>
        <p:spPr>
          <a:xfrm>
            <a:off x="1005840" y="4023360"/>
            <a:ext cx="5257800" cy="214884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 Fact[ind_id] → Dim_Indicator[ind_id]</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Fact[activity_date] → Dim_Time_day[day_date]</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Mark Dim_Time_day as the Date table</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Use AsOfDate = max fact date to avoid empty future periods</a:t>
            </a:r>
            <a:endParaRPr lang="en-US" sz="1150" dirty="0"/>
          </a:p>
        </p:txBody>
      </p:sp>
      <p:sp>
        <p:nvSpPr>
          <p:cNvPr id="11" name="Text 9"/>
          <p:cNvSpPr/>
          <p:nvPr/>
        </p:nvSpPr>
        <p:spPr>
          <a:xfrm>
            <a:off x="6720840" y="1143000"/>
            <a:ext cx="4709160" cy="274320"/>
          </a:xfrm>
          <a:prstGeom prst="rect">
            <a:avLst/>
          </a:prstGeom>
          <a:noFill/>
          <a:ln/>
        </p:spPr>
        <p:txBody>
          <a:bodyPr wrap="square" rtlCol="0" anchor="ctr"/>
          <a:lstStyle/>
          <a:p>
            <a:pPr indent="0" marL="0">
              <a:buNone/>
            </a:pPr>
            <a:r>
              <a:rPr lang="en-US" sz="1400" b="1" dirty="0">
                <a:solidFill>
                  <a:srgbClr val="0B1B3A"/>
                </a:solidFill>
              </a:rPr>
              <a:t>Report pages (examples)</a:t>
            </a:r>
            <a:endParaRPr lang="en-US" sz="1400" dirty="0"/>
          </a:p>
        </p:txBody>
      </p:sp>
      <p:sp>
        <p:nvSpPr>
          <p:cNvPr id="12" name="Shape 10"/>
          <p:cNvSpPr/>
          <p:nvPr/>
        </p:nvSpPr>
        <p:spPr>
          <a:xfrm>
            <a:off x="6720840" y="1463040"/>
            <a:ext cx="4709160" cy="1691640"/>
          </a:xfrm>
          <a:prstGeom prst="roundRect">
            <a:avLst/>
          </a:prstGeom>
          <a:solidFill>
            <a:srgbClr val="FFFFFF"/>
          </a:solidFill>
          <a:ln w="12700">
            <a:solidFill>
              <a:srgbClr val="E5E7EB"/>
            </a:solidFill>
            <a:prstDash val="solid"/>
          </a:ln>
          <a:effectLst>
            <a:outerShdw sx="100000" sy="100000" kx="0" ky="0" algn="bl" rotWithShape="0" blurRad="38100" dist="25400" dir="2700000">
              <a:srgbClr val="000000">
                <a:alpha val="18000"/>
              </a:srgbClr>
            </a:outerShdw>
          </a:effectLst>
        </p:spPr>
      </p:sp>
      <p:pic>
        <p:nvPicPr>
          <p:cNvPr id="13" name="Image 0" descr="/mnt/data/activity-kpi-dashboard/images/YTD.png">    </p:cNvPr>
          <p:cNvPicPr>
            <a:picLocks noChangeAspect="1"/>
          </p:cNvPicPr>
          <p:nvPr/>
        </p:nvPicPr>
        <p:blipFill>
          <a:blip r:embed="rId1"/>
          <a:stretch>
            <a:fillRect/>
          </a:stretch>
        </p:blipFill>
        <p:spPr>
          <a:xfrm>
            <a:off x="6885432" y="1627632"/>
            <a:ext cx="4379976" cy="1143000"/>
          </a:xfrm>
          <a:prstGeom prst="rect">
            <a:avLst/>
          </a:prstGeom>
        </p:spPr>
      </p:pic>
      <p:sp>
        <p:nvSpPr>
          <p:cNvPr id="14" name="Text 11"/>
          <p:cNvSpPr/>
          <p:nvPr/>
        </p:nvSpPr>
        <p:spPr>
          <a:xfrm>
            <a:off x="6885432" y="2834640"/>
            <a:ext cx="4379976" cy="22860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YTD</a:t>
            </a:r>
            <a:endParaRPr lang="en-US" sz="1050" dirty="0"/>
          </a:p>
        </p:txBody>
      </p:sp>
      <p:sp>
        <p:nvSpPr>
          <p:cNvPr id="15" name="Shape 12"/>
          <p:cNvSpPr/>
          <p:nvPr/>
        </p:nvSpPr>
        <p:spPr>
          <a:xfrm>
            <a:off x="6720840" y="3246120"/>
            <a:ext cx="4709160" cy="1691640"/>
          </a:xfrm>
          <a:prstGeom prst="roundRect">
            <a:avLst/>
          </a:prstGeom>
          <a:solidFill>
            <a:srgbClr val="FFFFFF"/>
          </a:solidFill>
          <a:ln w="12700">
            <a:solidFill>
              <a:srgbClr val="E5E7EB"/>
            </a:solidFill>
            <a:prstDash val="solid"/>
          </a:ln>
          <a:effectLst>
            <a:outerShdw sx="100000" sy="100000" kx="0" ky="0" algn="bl" rotWithShape="0" blurRad="38100" dist="25400" dir="2700000">
              <a:srgbClr val="000000">
                <a:alpha val="18000"/>
              </a:srgbClr>
            </a:outerShdw>
          </a:effectLst>
        </p:spPr>
      </p:sp>
      <p:pic>
        <p:nvPicPr>
          <p:cNvPr id="16" name="Image 1" descr="/mnt/data/activity-kpi-dashboard/images/defined.png">    </p:cNvPr>
          <p:cNvPicPr>
            <a:picLocks noChangeAspect="1"/>
          </p:cNvPicPr>
          <p:nvPr/>
        </p:nvPicPr>
        <p:blipFill>
          <a:blip r:embed="rId2"/>
          <a:stretch>
            <a:fillRect/>
          </a:stretch>
        </p:blipFill>
        <p:spPr>
          <a:xfrm>
            <a:off x="6885432" y="3410712"/>
            <a:ext cx="4379976" cy="1143000"/>
          </a:xfrm>
          <a:prstGeom prst="rect">
            <a:avLst/>
          </a:prstGeom>
        </p:spPr>
      </p:pic>
      <p:sp>
        <p:nvSpPr>
          <p:cNvPr id="17" name="Text 13"/>
          <p:cNvSpPr/>
          <p:nvPr/>
        </p:nvSpPr>
        <p:spPr>
          <a:xfrm>
            <a:off x="6885432" y="4617720"/>
            <a:ext cx="4379976" cy="22860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Defined period (365/180)</a:t>
            </a:r>
            <a:endParaRPr lang="en-US" sz="1050" dirty="0"/>
          </a:p>
        </p:txBody>
      </p:sp>
      <p:sp>
        <p:nvSpPr>
          <p:cNvPr id="18" name="Shape 14"/>
          <p:cNvSpPr/>
          <p:nvPr/>
        </p:nvSpPr>
        <p:spPr>
          <a:xfrm>
            <a:off x="6720840" y="5029200"/>
            <a:ext cx="4709160" cy="1691640"/>
          </a:xfrm>
          <a:prstGeom prst="roundRect">
            <a:avLst/>
          </a:prstGeom>
          <a:solidFill>
            <a:srgbClr val="FFFFFF"/>
          </a:solidFill>
          <a:ln w="12700">
            <a:solidFill>
              <a:srgbClr val="E5E7EB"/>
            </a:solidFill>
            <a:prstDash val="solid"/>
          </a:ln>
          <a:effectLst>
            <a:outerShdw sx="100000" sy="100000" kx="0" ky="0" algn="bl" rotWithShape="0" blurRad="38100" dist="25400" dir="2700000">
              <a:srgbClr val="000000">
                <a:alpha val="18000"/>
              </a:srgbClr>
            </a:outerShdw>
          </a:effectLst>
        </p:spPr>
      </p:sp>
      <p:pic>
        <p:nvPicPr>
          <p:cNvPr id="19" name="Image 2" descr="/mnt/data/activity-kpi-dashboard/images/custome.png">    </p:cNvPr>
          <p:cNvPicPr>
            <a:picLocks noChangeAspect="1"/>
          </p:cNvPicPr>
          <p:nvPr/>
        </p:nvPicPr>
        <p:blipFill>
          <a:blip r:embed="rId3"/>
          <a:stretch>
            <a:fillRect/>
          </a:stretch>
        </p:blipFill>
        <p:spPr>
          <a:xfrm>
            <a:off x="6885432" y="5193792"/>
            <a:ext cx="4379976" cy="1143000"/>
          </a:xfrm>
          <a:prstGeom prst="rect">
            <a:avLst/>
          </a:prstGeom>
        </p:spPr>
      </p:pic>
      <p:sp>
        <p:nvSpPr>
          <p:cNvPr id="20" name="Text 15"/>
          <p:cNvSpPr/>
          <p:nvPr/>
        </p:nvSpPr>
        <p:spPr>
          <a:xfrm>
            <a:off x="6885432" y="6400800"/>
            <a:ext cx="4379976" cy="22860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Custom period comparison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FFFFFF"/>
          </a:solidFill>
          <a:ln w="12700">
            <a:solidFill>
              <a:srgbClr val="E5E7EB"/>
            </a:solidFill>
            <a:prstDash val="solid"/>
          </a:ln>
        </p:spPr>
      </p:sp>
      <p:sp>
        <p:nvSpPr>
          <p:cNvPr id="3" name="Text 1"/>
          <p:cNvSpPr/>
          <p:nvPr/>
        </p:nvSpPr>
        <p:spPr>
          <a:xfrm>
            <a:off x="548640" y="146304"/>
            <a:ext cx="8686800" cy="365760"/>
          </a:xfrm>
          <a:prstGeom prst="rect">
            <a:avLst/>
          </a:prstGeom>
          <a:noFill/>
          <a:ln/>
        </p:spPr>
        <p:txBody>
          <a:bodyPr wrap="square" rtlCol="0" anchor="ctr"/>
          <a:lstStyle/>
          <a:p>
            <a:pPr indent="0" marL="0">
              <a:buNone/>
            </a:pPr>
            <a:r>
              <a:rPr lang="en-US" sz="2000" b="1" dirty="0">
                <a:solidFill>
                  <a:srgbClr val="0B1B3A"/>
                </a:solidFill>
                <a:latin typeface="Calibri" pitchFamily="34" charset="0"/>
                <a:ea typeface="Calibri" pitchFamily="34" charset="-122"/>
                <a:cs typeface="Calibri" pitchFamily="34" charset="-120"/>
              </a:rPr>
              <a:t>KPI calculations (DAX)</a:t>
            </a:r>
            <a:endParaRPr lang="en-US" sz="2000" dirty="0"/>
          </a:p>
        </p:txBody>
      </p:sp>
      <p:sp>
        <p:nvSpPr>
          <p:cNvPr id="4" name="Text 2"/>
          <p:cNvSpPr/>
          <p:nvPr/>
        </p:nvSpPr>
        <p:spPr>
          <a:xfrm>
            <a:off x="548640" y="420624"/>
            <a:ext cx="9601200" cy="201168"/>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Measures for A) YTD, B) rolling windows, C) custom periods</a:t>
            </a:r>
            <a:endParaRPr lang="en-US" sz="1100" dirty="0"/>
          </a:p>
        </p:txBody>
      </p:sp>
      <p:sp>
        <p:nvSpPr>
          <p:cNvPr id="5" name="Text 3"/>
          <p:cNvSpPr/>
          <p:nvPr/>
        </p:nvSpPr>
        <p:spPr>
          <a:xfrm>
            <a:off x="777240" y="1051560"/>
            <a:ext cx="5669280" cy="274320"/>
          </a:xfrm>
          <a:prstGeom prst="rect">
            <a:avLst/>
          </a:prstGeom>
          <a:noFill/>
          <a:ln/>
        </p:spPr>
        <p:txBody>
          <a:bodyPr wrap="square" rtlCol="0" anchor="ctr"/>
          <a:lstStyle/>
          <a:p>
            <a:pPr indent="0" marL="0">
              <a:buNone/>
            </a:pPr>
            <a:r>
              <a:rPr lang="en-US" sz="1600" b="1" dirty="0">
                <a:solidFill>
                  <a:srgbClr val="0B1B3A"/>
                </a:solidFill>
                <a:latin typeface="Calibri" pitchFamily="34" charset="0"/>
                <a:ea typeface="Calibri" pitchFamily="34" charset="-122"/>
                <a:cs typeface="Calibri" pitchFamily="34" charset="-120"/>
              </a:rPr>
              <a:t>Core measures</a:t>
            </a:r>
            <a:endParaRPr lang="en-US" sz="1600" dirty="0"/>
          </a:p>
        </p:txBody>
      </p:sp>
      <p:sp>
        <p:nvSpPr>
          <p:cNvPr id="6" name="Text 4"/>
          <p:cNvSpPr/>
          <p:nvPr/>
        </p:nvSpPr>
        <p:spPr>
          <a:xfrm>
            <a:off x="777240" y="1435608"/>
            <a:ext cx="5669280" cy="1920240"/>
          </a:xfrm>
          <a:prstGeom prst="rect">
            <a:avLst/>
          </a:prstGeom>
          <a:noFill/>
          <a:ln/>
        </p:spPr>
        <p:txBody>
          <a:bodyPr wrap="square" rtlCol="0" anchor="t"/>
          <a:lstStyle/>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Activities = SUM(Fact[act_value])</a:t>
            </a:r>
            <a:endParaRPr lang="en-US" sz="1250" dirty="0"/>
          </a:p>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AsOfDate = MAX(Fact[activity_date]) with filters removed</a:t>
            </a:r>
            <a:endParaRPr lang="en-US" sz="1250" dirty="0"/>
          </a:p>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All comparisons are scoped to the selected Indicator (Dim_Indicator).</a:t>
            </a:r>
            <a:endParaRPr lang="en-US" sz="1250" dirty="0"/>
          </a:p>
        </p:txBody>
      </p:sp>
      <p:sp>
        <p:nvSpPr>
          <p:cNvPr id="7" name="Shape 5"/>
          <p:cNvSpPr/>
          <p:nvPr/>
        </p:nvSpPr>
        <p:spPr>
          <a:xfrm>
            <a:off x="777240" y="3063240"/>
            <a:ext cx="5669280" cy="324612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8" name="Text 6"/>
          <p:cNvSpPr/>
          <p:nvPr/>
        </p:nvSpPr>
        <p:spPr>
          <a:xfrm>
            <a:off x="1005840" y="3227832"/>
            <a:ext cx="521208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A/B/C logic summary</a:t>
            </a:r>
            <a:endParaRPr lang="en-US" sz="1400" dirty="0"/>
          </a:p>
        </p:txBody>
      </p:sp>
      <p:sp>
        <p:nvSpPr>
          <p:cNvPr id="9" name="Text 7"/>
          <p:cNvSpPr/>
          <p:nvPr/>
        </p:nvSpPr>
        <p:spPr>
          <a:xfrm>
            <a:off x="1005840" y="3566160"/>
            <a:ext cx="5212080" cy="260604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A) YTD: Jan 1 → AsOfDate; LY = same window 12 months earlier</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B) Defined: Last N days (365/180) → AsOfDate; LY = same shifted window</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C) Custom: Period1 vs Period2 defined by slicers; trend shows both periods</a:t>
            </a:r>
            <a:endParaRPr lang="en-US" sz="1150" dirty="0"/>
          </a:p>
          <a:p>
            <a:pPr indent="0" marL="0">
              <a:buNone/>
            </a:pP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Variance % = (Current − LY) / LY; arrow ▲/▼ based on sign</a:t>
            </a:r>
            <a:endParaRPr lang="en-US" sz="1150" dirty="0"/>
          </a:p>
        </p:txBody>
      </p:sp>
      <p:sp>
        <p:nvSpPr>
          <p:cNvPr id="10" name="Shape 8"/>
          <p:cNvSpPr/>
          <p:nvPr/>
        </p:nvSpPr>
        <p:spPr>
          <a:xfrm>
            <a:off x="6720840" y="1051560"/>
            <a:ext cx="4709160" cy="5257800"/>
          </a:xfrm>
          <a:prstGeom prst="roundRect">
            <a:avLst/>
          </a:prstGeom>
          <a:solidFill>
            <a:srgbClr val="0B1220"/>
          </a:solidFill>
          <a:ln w="12700">
            <a:solidFill>
              <a:srgbClr val="0B1220"/>
            </a:solidFill>
            <a:prstDash val="solid"/>
          </a:ln>
        </p:spPr>
      </p:sp>
      <p:sp>
        <p:nvSpPr>
          <p:cNvPr id="11" name="Text 9"/>
          <p:cNvSpPr/>
          <p:nvPr/>
        </p:nvSpPr>
        <p:spPr>
          <a:xfrm>
            <a:off x="6949440" y="1207008"/>
            <a:ext cx="42976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Example pattern</a:t>
            </a:r>
            <a:endParaRPr lang="en-US" sz="1200" dirty="0"/>
          </a:p>
        </p:txBody>
      </p:sp>
      <p:sp>
        <p:nvSpPr>
          <p:cNvPr id="12" name="Text 10"/>
          <p:cNvSpPr/>
          <p:nvPr/>
        </p:nvSpPr>
        <p:spPr>
          <a:xfrm>
            <a:off x="6949440" y="1554480"/>
            <a:ext cx="4434840" cy="2011680"/>
          </a:xfrm>
          <a:prstGeom prst="rect">
            <a:avLst/>
          </a:prstGeom>
          <a:noFill/>
          <a:ln/>
        </p:spPr>
        <p:txBody>
          <a:bodyPr wrap="square" rtlCol="0" anchor="t"/>
          <a:lstStyle/>
          <a:p>
            <a:pPr indent="0" marL="0">
              <a:buNone/>
            </a:pPr>
            <a:r>
              <a:rPr lang="en-US" sz="1120" dirty="0">
                <a:solidFill>
                  <a:srgbClr val="D1D5DB"/>
                </a:solidFill>
                <a:latin typeface="Consolas" pitchFamily="34" charset="0"/>
                <a:ea typeface="Consolas" pitchFamily="34" charset="-122"/>
                <a:cs typeface="Consolas" pitchFamily="34" charset="-120"/>
              </a:rPr>
              <a:t>m_YTD =</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VAR d = [AsOfDate]</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VAR s = DATE(YEAR(d),1,1)</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RETURN CALCULATE([Activities],</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  DATESBETWEEN(Dim_Time_day[day_date], s, d))</a:t>
            </a:r>
            <a:endParaRPr lang="en-US" sz="1120" dirty="0"/>
          </a:p>
        </p:txBody>
      </p:sp>
      <p:sp>
        <p:nvSpPr>
          <p:cNvPr id="13" name="Text 11"/>
          <p:cNvSpPr/>
          <p:nvPr/>
        </p:nvSpPr>
        <p:spPr>
          <a:xfrm>
            <a:off x="6949440" y="3749040"/>
            <a:ext cx="4434840" cy="1143000"/>
          </a:xfrm>
          <a:prstGeom prst="rect">
            <a:avLst/>
          </a:prstGeom>
          <a:noFill/>
          <a:ln/>
        </p:spPr>
        <p:txBody>
          <a:bodyPr wrap="square" rtlCol="0" anchor="ctr"/>
          <a:lstStyle/>
          <a:p>
            <a:pPr indent="0" marL="0">
              <a:buNone/>
            </a:pPr>
            <a:r>
              <a:rPr lang="en-US" sz="1120" dirty="0">
                <a:solidFill>
                  <a:srgbClr val="D1D5DB"/>
                </a:solidFill>
                <a:latin typeface="Consolas" pitchFamily="34" charset="0"/>
                <a:ea typeface="Consolas" pitchFamily="34" charset="-122"/>
                <a:cs typeface="Consolas" pitchFamily="34" charset="-120"/>
              </a:rPr>
              <a:t>m_VarPct =</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VAR cur=[Current]</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VAR ly=[LY]</a:t>
            </a:r>
            <a:endParaRPr lang="en-US" sz="1120" dirty="0"/>
          </a:p>
          <a:p>
            <a:pPr indent="0" marL="0">
              <a:buNone/>
            </a:pPr>
            <a:r>
              <a:rPr lang="en-US" sz="1120" dirty="0">
                <a:solidFill>
                  <a:srgbClr val="D1D5DB"/>
                </a:solidFill>
                <a:latin typeface="Consolas" pitchFamily="34" charset="0"/>
                <a:ea typeface="Consolas" pitchFamily="34" charset="-122"/>
                <a:cs typeface="Consolas" pitchFamily="34" charset="-120"/>
              </a:rPr>
              <a:t>RETURN DIVIDE(cur-ly, ly)</a:t>
            </a:r>
            <a:endParaRPr lang="en-US" sz="11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FFFFFF"/>
          </a:solidFill>
          <a:ln w="12700">
            <a:solidFill>
              <a:srgbClr val="E5E7EB"/>
            </a:solidFill>
            <a:prstDash val="solid"/>
          </a:ln>
        </p:spPr>
      </p:sp>
      <p:sp>
        <p:nvSpPr>
          <p:cNvPr id="3" name="Text 1"/>
          <p:cNvSpPr/>
          <p:nvPr/>
        </p:nvSpPr>
        <p:spPr>
          <a:xfrm>
            <a:off x="548640" y="146304"/>
            <a:ext cx="8686800" cy="365760"/>
          </a:xfrm>
          <a:prstGeom prst="rect">
            <a:avLst/>
          </a:prstGeom>
          <a:noFill/>
          <a:ln/>
        </p:spPr>
        <p:txBody>
          <a:bodyPr wrap="square" rtlCol="0" anchor="ctr"/>
          <a:lstStyle/>
          <a:p>
            <a:pPr indent="0" marL="0">
              <a:buNone/>
            </a:pPr>
            <a:r>
              <a:rPr lang="en-US" sz="2000" b="1" dirty="0">
                <a:solidFill>
                  <a:srgbClr val="0B1B3A"/>
                </a:solidFill>
                <a:latin typeface="Calibri" pitchFamily="34" charset="0"/>
                <a:ea typeface="Calibri" pitchFamily="34" charset="-122"/>
                <a:cs typeface="Calibri" pitchFamily="34" charset="-120"/>
              </a:rPr>
              <a:t>Report UX</a:t>
            </a:r>
            <a:endParaRPr lang="en-US" sz="2000" dirty="0"/>
          </a:p>
        </p:txBody>
      </p:sp>
      <p:sp>
        <p:nvSpPr>
          <p:cNvPr id="4" name="Text 2"/>
          <p:cNvSpPr/>
          <p:nvPr/>
        </p:nvSpPr>
        <p:spPr>
          <a:xfrm>
            <a:off x="548640" y="420624"/>
            <a:ext cx="9601200" cy="201168"/>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Three pages (YTD / Defined / Custom) or single-page tabs via bookmarks</a:t>
            </a:r>
            <a:endParaRPr lang="en-US" sz="1100" dirty="0"/>
          </a:p>
        </p:txBody>
      </p:sp>
      <p:sp>
        <p:nvSpPr>
          <p:cNvPr id="5" name="Shape 3"/>
          <p:cNvSpPr/>
          <p:nvPr/>
        </p:nvSpPr>
        <p:spPr>
          <a:xfrm>
            <a:off x="777240" y="1143000"/>
            <a:ext cx="5669280" cy="201168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6" name="Text 4"/>
          <p:cNvSpPr/>
          <p:nvPr/>
        </p:nvSpPr>
        <p:spPr>
          <a:xfrm>
            <a:off x="1005840" y="1307592"/>
            <a:ext cx="521208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Navigation options</a:t>
            </a:r>
            <a:endParaRPr lang="en-US" sz="1400" dirty="0"/>
          </a:p>
        </p:txBody>
      </p:sp>
      <p:sp>
        <p:nvSpPr>
          <p:cNvPr id="7" name="Text 5"/>
          <p:cNvSpPr/>
          <p:nvPr/>
        </p:nvSpPr>
        <p:spPr>
          <a:xfrm>
            <a:off x="1005840" y="1645920"/>
            <a:ext cx="5212080" cy="137160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Option 1 (simple): Three report pages</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YTD page</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Defined Period page</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Custom Period page</a:t>
            </a:r>
            <a:endParaRPr lang="en-US" sz="1150" dirty="0"/>
          </a:p>
          <a:p>
            <a:pPr indent="0" marL="0">
              <a:buNone/>
            </a:pP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Option 2 (tabbed): One page + bookmark navigator</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Group visuals by tab (Selection pane)</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Create bookmarks per tab</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Use Bookmark navigator buttons</a:t>
            </a:r>
            <a:endParaRPr lang="en-US" sz="1150" dirty="0"/>
          </a:p>
        </p:txBody>
      </p:sp>
      <p:sp>
        <p:nvSpPr>
          <p:cNvPr id="8" name="Text 6"/>
          <p:cNvSpPr/>
          <p:nvPr/>
        </p:nvSpPr>
        <p:spPr>
          <a:xfrm>
            <a:off x="777240" y="3429000"/>
            <a:ext cx="5669280" cy="274320"/>
          </a:xfrm>
          <a:prstGeom prst="rect">
            <a:avLst/>
          </a:prstGeom>
          <a:noFill/>
          <a:ln/>
        </p:spPr>
        <p:txBody>
          <a:bodyPr wrap="square" rtlCol="0" anchor="ctr"/>
          <a:lstStyle/>
          <a:p>
            <a:pPr indent="0" marL="0">
              <a:buNone/>
            </a:pPr>
            <a:r>
              <a:rPr lang="en-US" sz="1600" b="1" dirty="0">
                <a:solidFill>
                  <a:srgbClr val="0B1B3A"/>
                </a:solidFill>
                <a:latin typeface="Calibri" pitchFamily="34" charset="0"/>
                <a:ea typeface="Calibri" pitchFamily="34" charset="-122"/>
                <a:cs typeface="Calibri" pitchFamily="34" charset="-120"/>
              </a:rPr>
              <a:t>Slicer behavior</a:t>
            </a:r>
            <a:endParaRPr lang="en-US" sz="1600" dirty="0"/>
          </a:p>
        </p:txBody>
      </p:sp>
      <p:sp>
        <p:nvSpPr>
          <p:cNvPr id="9" name="Text 7"/>
          <p:cNvSpPr/>
          <p:nvPr/>
        </p:nvSpPr>
        <p:spPr>
          <a:xfrm>
            <a:off x="777240" y="3813048"/>
            <a:ext cx="5669280" cy="1920240"/>
          </a:xfrm>
          <a:prstGeom prst="rect">
            <a:avLst/>
          </a:prstGeom>
          <a:noFill/>
          <a:ln/>
        </p:spPr>
        <p:txBody>
          <a:bodyPr wrap="square" rtlCol="0" anchor="t"/>
          <a:lstStyle/>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Keep Indicator slicer global (applies across tabs/pages).</a:t>
            </a:r>
            <a:endParaRPr lang="en-US" sz="1250" dirty="0"/>
          </a:p>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For bookmark tabs, disable “Data” for bookmarks to prevent slicer resets.</a:t>
            </a:r>
            <a:endParaRPr lang="en-US" sz="1250" dirty="0"/>
          </a:p>
          <a:p>
            <a:pPr marL="228600" indent="-228600">
              <a:lnSpc>
                <a:spcPct val="115000"/>
              </a:lnSpc>
              <a:buSzPct val="100000"/>
              <a:buChar char="•"/>
            </a:pPr>
            <a:r>
              <a:rPr lang="en-US" sz="1250" dirty="0">
                <a:solidFill>
                  <a:srgbClr val="374151"/>
                </a:solidFill>
                <a:latin typeface="Calibri" pitchFamily="34" charset="0"/>
                <a:ea typeface="Calibri" pitchFamily="34" charset="-122"/>
                <a:cs typeface="Calibri" pitchFamily="34" charset="-120"/>
              </a:rPr>
              <a:t>Trend charts use a trend measure that returns BLANK outside the selected window.</a:t>
            </a:r>
            <a:endParaRPr lang="en-US" sz="1250" dirty="0"/>
          </a:p>
        </p:txBody>
      </p:sp>
      <p:sp>
        <p:nvSpPr>
          <p:cNvPr id="10" name="Shape 8"/>
          <p:cNvSpPr/>
          <p:nvPr/>
        </p:nvSpPr>
        <p:spPr>
          <a:xfrm>
            <a:off x="6720840" y="1143000"/>
            <a:ext cx="4709160" cy="5394960"/>
          </a:xfrm>
          <a:prstGeom prst="roundRect">
            <a:avLst/>
          </a:prstGeom>
          <a:solidFill>
            <a:srgbClr val="FFFFFF"/>
          </a:solidFill>
          <a:ln w="12700">
            <a:solidFill>
              <a:srgbClr val="E5E7EB"/>
            </a:solidFill>
            <a:prstDash val="solid"/>
          </a:ln>
          <a:effectLst>
            <a:outerShdw sx="100000" sy="100000" kx="0" ky="0" algn="bl" rotWithShape="0" blurRad="38100" dist="25400" dir="2700000">
              <a:srgbClr val="000000">
                <a:alpha val="18000"/>
              </a:srgbClr>
            </a:outerShdw>
          </a:effectLst>
        </p:spPr>
      </p:sp>
      <p:pic>
        <p:nvPicPr>
          <p:cNvPr id="11" name="Image 0" descr="/mnt/data/activity-kpi-dashboard/images/defined.png">    </p:cNvPr>
          <p:cNvPicPr>
            <a:picLocks noChangeAspect="1"/>
          </p:cNvPicPr>
          <p:nvPr/>
        </p:nvPicPr>
        <p:blipFill>
          <a:blip r:embed="rId1"/>
          <a:stretch>
            <a:fillRect/>
          </a:stretch>
        </p:blipFill>
        <p:spPr>
          <a:xfrm>
            <a:off x="6885432" y="1307592"/>
            <a:ext cx="4379976" cy="4846320"/>
          </a:xfrm>
          <a:prstGeom prst="rect">
            <a:avLst/>
          </a:prstGeom>
        </p:spPr>
      </p:pic>
      <p:sp>
        <p:nvSpPr>
          <p:cNvPr id="12" name="Text 9"/>
          <p:cNvSpPr/>
          <p:nvPr/>
        </p:nvSpPr>
        <p:spPr>
          <a:xfrm>
            <a:off x="6885432" y="6217920"/>
            <a:ext cx="4379976" cy="22860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Example: Defined period page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FFFFFF"/>
          </a:solidFill>
          <a:ln w="12700">
            <a:solidFill>
              <a:srgbClr val="E5E7EB"/>
            </a:solidFill>
            <a:prstDash val="solid"/>
          </a:ln>
        </p:spPr>
      </p:sp>
      <p:sp>
        <p:nvSpPr>
          <p:cNvPr id="3" name="Text 1"/>
          <p:cNvSpPr/>
          <p:nvPr/>
        </p:nvSpPr>
        <p:spPr>
          <a:xfrm>
            <a:off x="548640" y="146304"/>
            <a:ext cx="8686800" cy="365760"/>
          </a:xfrm>
          <a:prstGeom prst="rect">
            <a:avLst/>
          </a:prstGeom>
          <a:noFill/>
          <a:ln/>
        </p:spPr>
        <p:txBody>
          <a:bodyPr wrap="square" rtlCol="0" anchor="ctr"/>
          <a:lstStyle/>
          <a:p>
            <a:pPr indent="0" marL="0">
              <a:buNone/>
            </a:pPr>
            <a:r>
              <a:rPr lang="en-US" sz="2000" b="1" dirty="0">
                <a:solidFill>
                  <a:srgbClr val="0B1B3A"/>
                </a:solidFill>
                <a:latin typeface="Calibri" pitchFamily="34" charset="0"/>
                <a:ea typeface="Calibri" pitchFamily="34" charset="-122"/>
                <a:cs typeface="Calibri" pitchFamily="34" charset="-120"/>
              </a:rPr>
              <a:t>Refresh &amp; “today” filtering</a:t>
            </a:r>
            <a:endParaRPr lang="en-US" sz="2000" dirty="0"/>
          </a:p>
        </p:txBody>
      </p:sp>
      <p:sp>
        <p:nvSpPr>
          <p:cNvPr id="4" name="Text 2"/>
          <p:cNvSpPr/>
          <p:nvPr/>
        </p:nvSpPr>
        <p:spPr>
          <a:xfrm>
            <a:off x="548640" y="420624"/>
            <a:ext cx="9601200" cy="201168"/>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Optional Power Query filter to restrict dataset to today</a:t>
            </a:r>
            <a:endParaRPr lang="en-US" sz="1100" dirty="0"/>
          </a:p>
        </p:txBody>
      </p:sp>
      <p:sp>
        <p:nvSpPr>
          <p:cNvPr id="5" name="Shape 3"/>
          <p:cNvSpPr/>
          <p:nvPr/>
        </p:nvSpPr>
        <p:spPr>
          <a:xfrm>
            <a:off x="777240" y="1143000"/>
            <a:ext cx="5669280" cy="169164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6" name="Text 4"/>
          <p:cNvSpPr/>
          <p:nvPr/>
        </p:nvSpPr>
        <p:spPr>
          <a:xfrm>
            <a:off x="1005840" y="1307592"/>
            <a:ext cx="521208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Why filter to today?</a:t>
            </a:r>
            <a:endParaRPr lang="en-US" sz="1400" dirty="0"/>
          </a:p>
        </p:txBody>
      </p:sp>
      <p:sp>
        <p:nvSpPr>
          <p:cNvPr id="7" name="Text 5"/>
          <p:cNvSpPr/>
          <p:nvPr/>
        </p:nvSpPr>
        <p:spPr>
          <a:xfrm>
            <a:off x="1005840" y="1645920"/>
            <a:ext cx="5212080" cy="105156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When the date dimension extends beyond available fact data, visuals may show empty future dates. Filtering to today (or using AsOfDate based on fact max) keeps KPIs aligned with the “current” reporting cut.</a:t>
            </a:r>
            <a:endParaRPr lang="en-US" sz="1150" dirty="0"/>
          </a:p>
        </p:txBody>
      </p:sp>
      <p:sp>
        <p:nvSpPr>
          <p:cNvPr id="8" name="Shape 6"/>
          <p:cNvSpPr/>
          <p:nvPr/>
        </p:nvSpPr>
        <p:spPr>
          <a:xfrm>
            <a:off x="777240" y="3063240"/>
            <a:ext cx="5669280" cy="3520440"/>
          </a:xfrm>
          <a:prstGeom prst="roundRect">
            <a:avLst/>
          </a:prstGeom>
          <a:solidFill>
            <a:srgbClr val="0B1220"/>
          </a:solidFill>
          <a:ln w="12700">
            <a:solidFill>
              <a:srgbClr val="0B1220"/>
            </a:solidFill>
            <a:prstDash val="solid"/>
          </a:ln>
        </p:spPr>
      </p:sp>
      <p:sp>
        <p:nvSpPr>
          <p:cNvPr id="9" name="Text 7"/>
          <p:cNvSpPr/>
          <p:nvPr/>
        </p:nvSpPr>
        <p:spPr>
          <a:xfrm>
            <a:off x="1005840" y="3218688"/>
            <a:ext cx="5303520" cy="274320"/>
          </a:xfrm>
          <a:prstGeom prst="rect">
            <a:avLst/>
          </a:prstGeom>
          <a:noFill/>
          <a:ln/>
        </p:spPr>
        <p:txBody>
          <a:bodyPr wrap="square" rtlCol="0" anchor="ctr"/>
          <a:lstStyle/>
          <a:p>
            <a:pPr indent="0" marL="0">
              <a:buNone/>
            </a:pPr>
            <a:r>
              <a:rPr lang="en-US" sz="1200" b="1" dirty="0">
                <a:solidFill>
                  <a:srgbClr val="FFFFFF"/>
                </a:solidFill>
              </a:rPr>
              <a:t>Power Query (M) example</a:t>
            </a:r>
            <a:endParaRPr lang="en-US" sz="1200" dirty="0"/>
          </a:p>
        </p:txBody>
      </p:sp>
      <p:sp>
        <p:nvSpPr>
          <p:cNvPr id="10" name="Text 8"/>
          <p:cNvSpPr/>
          <p:nvPr/>
        </p:nvSpPr>
        <p:spPr>
          <a:xfrm>
            <a:off x="1005840" y="3566160"/>
            <a:ext cx="5394960" cy="1280160"/>
          </a:xfrm>
          <a:prstGeom prst="rect">
            <a:avLst/>
          </a:prstGeom>
          <a:noFill/>
          <a:ln/>
        </p:spPr>
        <p:txBody>
          <a:bodyPr wrap="square" rtlCol="0" anchor="t"/>
          <a:lstStyle/>
          <a:p>
            <a:pPr indent="0" marL="0">
              <a:buNone/>
            </a:pPr>
            <a:r>
              <a:rPr lang="en-US" sz="1160" dirty="0">
                <a:solidFill>
                  <a:srgbClr val="D1D5DB"/>
                </a:solidFill>
                <a:latin typeface="Consolas" pitchFamily="34" charset="0"/>
                <a:ea typeface="Consolas" pitchFamily="34" charset="-122"/>
                <a:cs typeface="Consolas" pitchFamily="34" charset="-120"/>
              </a:rPr>
              <a:t>TodayUTC = Date.From(DateTimeZone.UtcNow()),</a:t>
            </a:r>
            <a:endParaRPr lang="en-US" sz="1160" dirty="0"/>
          </a:p>
          <a:p>
            <a:pPr indent="0" marL="0">
              <a:buNone/>
            </a:pPr>
            <a:r>
              <a:rPr lang="en-US" sz="1160" dirty="0">
                <a:solidFill>
                  <a:srgbClr val="D1D5DB"/>
                </a:solidFill>
                <a:latin typeface="Consolas" pitchFamily="34" charset="0"/>
                <a:ea typeface="Consolas" pitchFamily="34" charset="-122"/>
                <a:cs typeface="Consolas" pitchFamily="34" charset="-120"/>
              </a:rPr>
              <a:t>FilteredToToday = Table.SelectRows(</a:t>
            </a:r>
            <a:endParaRPr lang="en-US" sz="1160" dirty="0"/>
          </a:p>
          <a:p>
            <a:pPr indent="0" marL="0">
              <a:buNone/>
            </a:pPr>
            <a:r>
              <a:rPr lang="en-US" sz="1160" dirty="0">
                <a:solidFill>
                  <a:srgbClr val="D1D5DB"/>
                </a:solidFill>
                <a:latin typeface="Consolas" pitchFamily="34" charset="0"/>
                <a:ea typeface="Consolas" pitchFamily="34" charset="-122"/>
                <a:cs typeface="Consolas" pitchFamily="34" charset="-120"/>
              </a:rPr>
              <a:t>  #"Changed Type", each [activity_date] &lt;= TodayUTC)</a:t>
            </a:r>
            <a:endParaRPr lang="en-US" sz="1160" dirty="0"/>
          </a:p>
        </p:txBody>
      </p:sp>
      <p:sp>
        <p:nvSpPr>
          <p:cNvPr id="11" name="Shape 9"/>
          <p:cNvSpPr/>
          <p:nvPr/>
        </p:nvSpPr>
        <p:spPr>
          <a:xfrm>
            <a:off x="6720840" y="1143000"/>
            <a:ext cx="4709160" cy="544068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12" name="Text 10"/>
          <p:cNvSpPr/>
          <p:nvPr/>
        </p:nvSpPr>
        <p:spPr>
          <a:xfrm>
            <a:off x="6949440" y="1307592"/>
            <a:ext cx="425196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Recommended approach used in this project</a:t>
            </a:r>
            <a:endParaRPr lang="en-US" sz="1400" dirty="0"/>
          </a:p>
        </p:txBody>
      </p:sp>
      <p:sp>
        <p:nvSpPr>
          <p:cNvPr id="13" name="Text 11"/>
          <p:cNvSpPr/>
          <p:nvPr/>
        </p:nvSpPr>
        <p:spPr>
          <a:xfrm>
            <a:off x="6949440" y="1645920"/>
            <a:ext cx="4251960" cy="480060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 AsOfDate is based on the latest fact date, so KPIs do not depend on the end of the date table.</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Optional M filter ensures refresh only includes data up to today (UTC) when required.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FFFFFF"/>
          </a:solidFill>
          <a:ln w="12700">
            <a:solidFill>
              <a:srgbClr val="E5E7EB"/>
            </a:solidFill>
            <a:prstDash val="solid"/>
          </a:ln>
        </p:spPr>
      </p:sp>
      <p:sp>
        <p:nvSpPr>
          <p:cNvPr id="3" name="Text 1"/>
          <p:cNvSpPr/>
          <p:nvPr/>
        </p:nvSpPr>
        <p:spPr>
          <a:xfrm>
            <a:off x="548640" y="146304"/>
            <a:ext cx="8686800" cy="365760"/>
          </a:xfrm>
          <a:prstGeom prst="rect">
            <a:avLst/>
          </a:prstGeom>
          <a:noFill/>
          <a:ln/>
        </p:spPr>
        <p:txBody>
          <a:bodyPr wrap="square" rtlCol="0" anchor="ctr"/>
          <a:lstStyle/>
          <a:p>
            <a:pPr indent="0" marL="0">
              <a:buNone/>
            </a:pPr>
            <a:r>
              <a:rPr lang="en-US" sz="2000" b="1" dirty="0">
                <a:solidFill>
                  <a:srgbClr val="0B1B3A"/>
                </a:solidFill>
                <a:latin typeface="Calibri" pitchFamily="34" charset="0"/>
                <a:ea typeface="Calibri" pitchFamily="34" charset="-122"/>
                <a:cs typeface="Calibri" pitchFamily="34" charset="-120"/>
              </a:rPr>
              <a:t>QA, validation &amp; handoff</a:t>
            </a:r>
            <a:endParaRPr lang="en-US" sz="2000" dirty="0"/>
          </a:p>
        </p:txBody>
      </p:sp>
      <p:sp>
        <p:nvSpPr>
          <p:cNvPr id="4" name="Text 2"/>
          <p:cNvSpPr/>
          <p:nvPr/>
        </p:nvSpPr>
        <p:spPr>
          <a:xfrm>
            <a:off x="548640" y="420624"/>
            <a:ext cx="9601200" cy="201168"/>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How results were checked and what is delivered</a:t>
            </a:r>
            <a:endParaRPr lang="en-US" sz="1100" dirty="0"/>
          </a:p>
        </p:txBody>
      </p:sp>
      <p:sp>
        <p:nvSpPr>
          <p:cNvPr id="5" name="Shape 3"/>
          <p:cNvSpPr/>
          <p:nvPr/>
        </p:nvSpPr>
        <p:spPr>
          <a:xfrm>
            <a:off x="777240" y="1143000"/>
            <a:ext cx="5669280" cy="219456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6" name="Text 4"/>
          <p:cNvSpPr/>
          <p:nvPr/>
        </p:nvSpPr>
        <p:spPr>
          <a:xfrm>
            <a:off x="1005840" y="1307592"/>
            <a:ext cx="521208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Validation checks</a:t>
            </a:r>
            <a:endParaRPr lang="en-US" sz="1400" dirty="0"/>
          </a:p>
        </p:txBody>
      </p:sp>
      <p:sp>
        <p:nvSpPr>
          <p:cNvPr id="7" name="Text 5"/>
          <p:cNvSpPr/>
          <p:nvPr/>
        </p:nvSpPr>
        <p:spPr>
          <a:xfrm>
            <a:off x="1005840" y="1645920"/>
            <a:ext cx="5212080" cy="155448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 SQL spot-check: SUM(act_value) for an indicator over a known date window</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Power BI cards match SQL results for the same window</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Relationships verified (Fact→Date, Fact→Indicator)</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Edge cases: LY = 0 handled with DIVIDE() to avoid errors</a:t>
            </a:r>
            <a:endParaRPr lang="en-US" sz="1150" dirty="0"/>
          </a:p>
        </p:txBody>
      </p:sp>
      <p:sp>
        <p:nvSpPr>
          <p:cNvPr id="8" name="Shape 6"/>
          <p:cNvSpPr/>
          <p:nvPr/>
        </p:nvSpPr>
        <p:spPr>
          <a:xfrm>
            <a:off x="777240" y="3657600"/>
            <a:ext cx="5669280" cy="2697480"/>
          </a:xfrm>
          <a:prstGeom prst="roundRect">
            <a:avLst/>
          </a:prstGeom>
          <a:solidFill>
            <a:srgbClr val="FFFFFF"/>
          </a:solidFill>
          <a:ln w="12700">
            <a:solidFill>
              <a:srgbClr val="E5E7EB"/>
            </a:solidFill>
            <a:prstDash val="solid"/>
          </a:ln>
          <a:effectLst>
            <a:outerShdw sx="100000" sy="100000" kx="0" ky="0" algn="bl" rotWithShape="0" blurRad="31750" dist="25400" dir="2700000">
              <a:srgbClr val="000000">
                <a:alpha val="14000"/>
              </a:srgbClr>
            </a:outerShdw>
          </a:effectLst>
        </p:spPr>
      </p:sp>
      <p:sp>
        <p:nvSpPr>
          <p:cNvPr id="9" name="Text 7"/>
          <p:cNvSpPr/>
          <p:nvPr/>
        </p:nvSpPr>
        <p:spPr>
          <a:xfrm>
            <a:off x="1005840" y="3822192"/>
            <a:ext cx="5212080" cy="274320"/>
          </a:xfrm>
          <a:prstGeom prst="rect">
            <a:avLst/>
          </a:prstGeom>
          <a:noFill/>
          <a:ln/>
        </p:spPr>
        <p:txBody>
          <a:bodyPr wrap="square"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Handoff package (GitHub)</a:t>
            </a:r>
            <a:endParaRPr lang="en-US" sz="1400" dirty="0"/>
          </a:p>
        </p:txBody>
      </p:sp>
      <p:sp>
        <p:nvSpPr>
          <p:cNvPr id="10" name="Text 8"/>
          <p:cNvSpPr/>
          <p:nvPr/>
        </p:nvSpPr>
        <p:spPr>
          <a:xfrm>
            <a:off x="1005840" y="4160520"/>
            <a:ext cx="5212080" cy="2057400"/>
          </a:xfrm>
          <a:prstGeom prst="rect">
            <a:avLst/>
          </a:prstGeom>
          <a:noFill/>
          <a:ln/>
        </p:spPr>
        <p:txBody>
          <a:bodyPr wrap="square" rtlCol="0" anchor="t"/>
          <a:lstStyle/>
          <a:p>
            <a:pPr indent="0" marL="0">
              <a:buNone/>
            </a:pPr>
            <a:r>
              <a:rPr lang="en-US" sz="1150" dirty="0">
                <a:solidFill>
                  <a:srgbClr val="374151"/>
                </a:solidFill>
                <a:latin typeface="Calibri" pitchFamily="34" charset="0"/>
                <a:ea typeface="Calibri" pitchFamily="34" charset="-122"/>
                <a:cs typeface="Calibri" pitchFamily="34" charset="-120"/>
              </a:rPr>
              <a:t>• SQL scripts (shift view + rebuild date dimension)</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Power BI file (PBIX)</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Two decks: Technical + Business</a:t>
            </a:r>
            <a:endParaRPr lang="en-US" sz="1150" dirty="0"/>
          </a:p>
          <a:p>
            <a:pPr indent="0" marL="0">
              <a:buNone/>
            </a:pPr>
            <a:r>
              <a:rPr lang="en-US" sz="1150" dirty="0">
                <a:solidFill>
                  <a:srgbClr val="374151"/>
                </a:solidFill>
                <a:latin typeface="Calibri" pitchFamily="34" charset="0"/>
                <a:ea typeface="Calibri" pitchFamily="34" charset="-122"/>
                <a:cs typeface="Calibri" pitchFamily="34" charset="-120"/>
              </a:rPr>
              <a:t>• README with setup steps and troubleshooting</a:t>
            </a:r>
            <a:endParaRPr lang="en-US" sz="1150" dirty="0"/>
          </a:p>
        </p:txBody>
      </p:sp>
      <p:sp>
        <p:nvSpPr>
          <p:cNvPr id="11" name="Shape 9"/>
          <p:cNvSpPr/>
          <p:nvPr/>
        </p:nvSpPr>
        <p:spPr>
          <a:xfrm>
            <a:off x="6720840" y="1143000"/>
            <a:ext cx="4709160" cy="5212080"/>
          </a:xfrm>
          <a:prstGeom prst="roundRect">
            <a:avLst/>
          </a:prstGeom>
          <a:solidFill>
            <a:srgbClr val="FFFFFF"/>
          </a:solidFill>
          <a:ln w="12700">
            <a:solidFill>
              <a:srgbClr val="E5E7EB"/>
            </a:solidFill>
            <a:prstDash val="solid"/>
          </a:ln>
        </p:spPr>
      </p:sp>
      <p:sp>
        <p:nvSpPr>
          <p:cNvPr id="12" name="Text 10"/>
          <p:cNvSpPr/>
          <p:nvPr/>
        </p:nvSpPr>
        <p:spPr>
          <a:xfrm>
            <a:off x="6949440" y="1325880"/>
            <a:ext cx="4297680" cy="274320"/>
          </a:xfrm>
          <a:prstGeom prst="rect">
            <a:avLst/>
          </a:prstGeom>
          <a:noFill/>
          <a:ln/>
        </p:spPr>
        <p:txBody>
          <a:bodyPr wrap="square" rtlCol="0" anchor="ctr"/>
          <a:lstStyle/>
          <a:p>
            <a:pPr indent="0" marL="0">
              <a:buNone/>
            </a:pPr>
            <a:r>
              <a:rPr lang="en-US" sz="1400" b="1" dirty="0">
                <a:solidFill>
                  <a:srgbClr val="0B1B3A"/>
                </a:solidFill>
              </a:rPr>
              <a:t>Deliverables</a:t>
            </a:r>
            <a:endParaRPr lang="en-US" sz="1400" dirty="0"/>
          </a:p>
        </p:txBody>
      </p:sp>
      <p:sp>
        <p:nvSpPr>
          <p:cNvPr id="13" name="Text 11"/>
          <p:cNvSpPr/>
          <p:nvPr/>
        </p:nvSpPr>
        <p:spPr>
          <a:xfrm>
            <a:off x="6949440" y="1691640"/>
            <a:ext cx="4389120" cy="1280160"/>
          </a:xfrm>
          <a:prstGeom prst="rect">
            <a:avLst/>
          </a:prstGeom>
          <a:noFill/>
          <a:ln/>
        </p:spPr>
        <p:txBody>
          <a:bodyPr wrap="square" rtlCol="0" anchor="ctr"/>
          <a:lstStyle/>
          <a:p>
            <a:pPr marL="228600" indent="-228600">
              <a:buSzPct val="100000"/>
              <a:buChar char="•"/>
            </a:pPr>
            <a:r>
              <a:rPr lang="en-US" sz="1200" dirty="0">
                <a:solidFill>
                  <a:srgbClr val="374151"/>
                </a:solidFill>
              </a:rPr>
              <a:t>• Activity-KPI-Dashboard.pbix</a:t>
            </a:r>
            <a:endParaRPr lang="en-US" sz="1200" dirty="0"/>
          </a:p>
          <a:p>
            <a:pPr marL="228600" indent="-228600">
              <a:buSzPct val="100000"/>
              <a:buChar char="•"/>
            </a:pPr>
            <a:r>
              <a:rPr lang="en-US" sz="1200" dirty="0">
                <a:solidFill>
                  <a:srgbClr val="374151"/>
                </a:solidFill>
              </a:rPr>
              <a:t>• Technical_Implementation.pptx</a:t>
            </a:r>
            <a:endParaRPr lang="en-US" sz="1200" dirty="0"/>
          </a:p>
          <a:p>
            <a:pPr marL="228600" indent="-228600">
              <a:buSzPct val="100000"/>
              <a:buChar char="•"/>
            </a:pPr>
            <a:r>
              <a:rPr lang="en-US" sz="1200" dirty="0">
                <a:solidFill>
                  <a:srgbClr val="374151"/>
                </a:solidFill>
              </a:rPr>
              <a:t>• Business_KPIs.pptx</a:t>
            </a:r>
            <a:endParaRPr lang="en-US" sz="1200" dirty="0"/>
          </a:p>
          <a:p>
            <a:pPr marL="228600" indent="-228600">
              <a:buSzPct val="100000"/>
              <a:buChar char="•"/>
            </a:pPr>
            <a:r>
              <a:rPr lang="en-US" sz="1200" dirty="0">
                <a:solidFill>
                  <a:srgbClr val="374151"/>
                </a:solidFill>
              </a:rPr>
              <a:t>• SQL scripts + README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Power BI + SQL Server</dc:subject>
  <dc:creator>Activity KPI Dashboard</dc:creator>
  <cp:lastModifiedBy>Activity KPI Dashboard</cp:lastModifiedBy>
  <cp:revision>1</cp:revision>
  <dcterms:created xsi:type="dcterms:W3CDTF">2026-01-20T23:57:01Z</dcterms:created>
  <dcterms:modified xsi:type="dcterms:W3CDTF">2026-01-20T23:57:01Z</dcterms:modified>
</cp:coreProperties>
</file>